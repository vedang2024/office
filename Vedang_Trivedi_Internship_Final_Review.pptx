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image" Target="../media/image-6-4.png"/><Relationship Id="rId6" Type="http://schemas.openxmlformats.org/officeDocument/2006/relationships/image" Target="../media/image-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image" Target="../media/image-11-1.png"/><Relationship Id="rId7" Type="http://schemas.openxmlformats.org/officeDocument/2006/relationships/image" Target="../media/image-11-1.png"/><Relationship Id="rId8" Type="http://schemas.openxmlformats.org/officeDocument/2006/relationships/image" Target="../media/image-11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5.png"/><Relationship Id="rId7" Type="http://schemas.openxmlformats.org/officeDocument/2006/relationships/image" Target="../media/image-15-5.png"/><Relationship Id="rId8" Type="http://schemas.openxmlformats.org/officeDocument/2006/relationships/image" Target="../media/image-15-5.png"/><Relationship Id="rId9" Type="http://schemas.openxmlformats.org/officeDocument/2006/relationships/image" Target="../media/image-15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743200" cy="2743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AUTOMATION &amp; OPERATIONAL EXCELLENCE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Platform Development &amp;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KHMS Data Governance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Internship Review  |  February – August 2026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Vedang Trivedi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M.Tech ICT (Software Systems), DA-IICT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Intern, KHMS Digital Automation  |  Kraft Heinz Global Business Services, Ahmedabad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Vikas Choudhary — Manager, KHMS/AIT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rou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900855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7335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the Problem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02082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KHMS data collection broke down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163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icons/projectdiagram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952415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7249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07238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four workstreams connect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8679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icons/fla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4003975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77647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6-Month Timeline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412394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onboarding to tenant handover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9194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icons/mobi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5055535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82803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GBS HC 2026 App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25880" y="517550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Wizard-driven health-check Power App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172200" y="17647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icons/lightbulb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263" y="1900855"/>
            <a:ext cx="294803" cy="2948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49440" y="167335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 Opportunity Tracker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6949440" y="202082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efficiency pipeline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172200" y="28163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5" descr="icons/python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263" y="2952415"/>
            <a:ext cx="294803" cy="29480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9440" y="27249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Migration &amp; Power BI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6949440" y="307238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1,827 rows, 24 files, one truth source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172200" y="38679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6" descr="icons/sitemap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8263" y="4003975"/>
            <a:ext cx="294803" cy="29480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49440" y="377647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SIPOC Standardisation</a:t>
            </a:r>
            <a:endParaRPr lang="en-US" sz="1550" dirty="0"/>
          </a:p>
        </p:txBody>
      </p:sp>
      <p:sp>
        <p:nvSpPr>
          <p:cNvPr id="31" name="Text 22"/>
          <p:cNvSpPr/>
          <p:nvPr/>
        </p:nvSpPr>
        <p:spPr>
          <a:xfrm>
            <a:off x="6949440" y="412394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towers, one design language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6172200" y="49194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7" descr="icons/certificat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8263" y="5055535"/>
            <a:ext cx="294803" cy="29480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49440" y="482803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Results, Learnings &amp; Certifications</a:t>
            </a:r>
            <a:endParaRPr lang="en-US" sz="1550" dirty="0"/>
          </a:p>
        </p:txBody>
      </p:sp>
      <p:sp>
        <p:nvSpPr>
          <p:cNvPr id="35" name="Text 25"/>
          <p:cNvSpPr/>
          <p:nvPr/>
        </p:nvSpPr>
        <p:spPr>
          <a:xfrm>
            <a:off x="6949440" y="517550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challenges, takeaways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A Fragmented Health-Check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shared services across supply chain, finance, procurement and process excellence — monitored monthly through the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Health Management System (KHMS)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rolling tower metrics up into leadership Power BI dashboards.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FDEDEC"/>
          </a:solidFill>
          <a:ln/>
        </p:spPr>
      </p:sp>
      <p:pic>
        <p:nvPicPr>
          <p:cNvPr id="6" name="Image 0" descr="icons/fileexcel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33604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320954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siloed Excel sheets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70432" y="34930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layout uniformity, mismatched naming, scattered directories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FDEDEC"/>
          </a:solidFill>
          <a:ln/>
        </p:spPr>
      </p:sp>
      <p:pic>
        <p:nvPicPr>
          <p:cNvPr id="10" name="Image 1" descr="icons/warning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42291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407822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validation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70432" y="436168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front-end checks — corrupted, blank, or out-of-range entries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FDEDEC"/>
          </a:solidFill>
          <a:ln/>
        </p:spPr>
      </p:sp>
      <p:pic>
        <p:nvPicPr>
          <p:cNvPr id="14" name="Image 2" descr="icons/clipboardlist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509778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49469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70432" y="52303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repairing files before every reporting deadline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903720" y="1554480"/>
            <a:ext cx="4754880" cy="4617720"/>
          </a:xfrm>
          <a:prstGeom prst="roundRect">
            <a:avLst>
              <a:gd name="adj" fmla="val 1584"/>
            </a:avLst>
          </a:prstGeom>
          <a:solidFill>
            <a:srgbClr val="161C4A"/>
          </a:solidFill>
          <a:ln/>
        </p:spPr>
      </p:sp>
      <p:sp>
        <p:nvSpPr>
          <p:cNvPr id="18" name="Text 13"/>
          <p:cNvSpPr/>
          <p:nvPr/>
        </p:nvSpPr>
        <p:spPr>
          <a:xfrm>
            <a:off x="7269480" y="1828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MANDATE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269480" y="2359152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20" name="Text 15"/>
          <p:cNvSpPr/>
          <p:nvPr/>
        </p:nvSpPr>
        <p:spPr>
          <a:xfrm>
            <a:off x="7498080" y="221284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an enterprise low-code solution on Microsoft Power Platform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269480" y="3118104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22" name="Text 17"/>
          <p:cNvSpPr/>
          <p:nvPr/>
        </p:nvSpPr>
        <p:spPr>
          <a:xfrm>
            <a:off x="7498080" y="297180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SharePoint as a structured, governed backend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269480" y="3877056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24" name="Text 19"/>
          <p:cNvSpPr/>
          <p:nvPr/>
        </p:nvSpPr>
        <p:spPr>
          <a:xfrm>
            <a:off x="7498080" y="373075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data layer directly into executive Power BI dashboards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269480" y="4636008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26" name="Text 21"/>
          <p:cNvSpPr/>
          <p:nvPr/>
        </p:nvSpPr>
        <p:spPr>
          <a:xfrm>
            <a:off x="7498080" y="4489704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SIPOC diagrams and escalation paths across all towers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7269480" y="53949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Power Apps for entry, Power Automate for alerts, SharePoint for storage, Power BI for analytics, Entra ID for identity, Python for legacy migration.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Power Platform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8346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pic>
        <p:nvPicPr>
          <p:cNvPr id="5" name="Image 0" descr="icons/mob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8424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8308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 HC 2026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749040" y="1783080"/>
            <a:ext cx="28346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pic>
        <p:nvPicPr>
          <p:cNvPr id="8" name="Image 1" descr="icons/lightbulb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98424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34840" y="178308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Opportunity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858000" y="1783080"/>
            <a:ext cx="28346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pic>
        <p:nvPicPr>
          <p:cNvPr id="11" name="Image 2" descr="icons/pytho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198424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43800" y="178308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Migration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9692640" y="178308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</p:spPr>
      </p:sp>
      <p:pic>
        <p:nvPicPr>
          <p:cNvPr id="14" name="Image 3" descr="icons/user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198424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314432" y="178308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2057400" y="2651760"/>
            <a:ext cx="0" cy="411480"/>
          </a:xfrm>
          <a:prstGeom prst="line">
            <a:avLst/>
          </a:prstGeom>
          <a:noFill/>
          <a:ln w="25400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17" name="Shape 11"/>
          <p:cNvSpPr/>
          <p:nvPr/>
        </p:nvSpPr>
        <p:spPr>
          <a:xfrm>
            <a:off x="5166360" y="2651760"/>
            <a:ext cx="0" cy="411480"/>
          </a:xfrm>
          <a:prstGeom prst="line">
            <a:avLst/>
          </a:prstGeom>
          <a:noFill/>
          <a:ln w="25400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8275320" y="2651760"/>
            <a:ext cx="0" cy="411480"/>
          </a:xfrm>
          <a:prstGeom prst="line">
            <a:avLst/>
          </a:prstGeom>
          <a:noFill/>
          <a:ln w="25400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2743200" y="3154680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161C4A"/>
          </a:solidFill>
          <a:ln/>
        </p:spPr>
      </p:sp>
      <p:pic>
        <p:nvPicPr>
          <p:cNvPr id="20" name="Image 4" descr="icons/databas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3355848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520440" y="315468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Lists  —  Governed, single source of truth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3794760" y="4023360"/>
            <a:ext cx="0" cy="502920"/>
          </a:xfrm>
          <a:prstGeom prst="line">
            <a:avLst/>
          </a:prstGeom>
          <a:noFill/>
          <a:ln w="25400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23" name="Shape 16"/>
          <p:cNvSpPr/>
          <p:nvPr/>
        </p:nvSpPr>
        <p:spPr>
          <a:xfrm>
            <a:off x="8366760" y="4023360"/>
            <a:ext cx="0" cy="502920"/>
          </a:xfrm>
          <a:prstGeom prst="line">
            <a:avLst/>
          </a:prstGeom>
          <a:noFill/>
          <a:ln w="25400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2194560" y="4526280"/>
            <a:ext cx="3200400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</p:spPr>
      </p:sp>
      <p:pic>
        <p:nvPicPr>
          <p:cNvPr id="25" name="Image 5" descr="icons/bell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9152" y="4727448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880360" y="45262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Loops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6766560" y="4526280"/>
            <a:ext cx="3200400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</p:spPr>
      </p:sp>
      <p:pic>
        <p:nvPicPr>
          <p:cNvPr id="28" name="Image 6" descr="icons/chartbar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1152" y="4727448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52360" y="45262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0" name="Shape 21"/>
          <p:cNvSpPr/>
          <p:nvPr/>
        </p:nvSpPr>
        <p:spPr>
          <a:xfrm>
            <a:off x="8366760" y="5394960"/>
            <a:ext cx="0" cy="365760"/>
          </a:xfrm>
          <a:prstGeom prst="line">
            <a:avLst/>
          </a:prstGeom>
          <a:noFill/>
          <a:ln w="25400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31" name="Shape 22"/>
          <p:cNvSpPr/>
          <p:nvPr/>
        </p:nvSpPr>
        <p:spPr>
          <a:xfrm>
            <a:off x="6766560" y="5760720"/>
            <a:ext cx="3200400" cy="640080"/>
          </a:xfrm>
          <a:prstGeom prst="roundRect">
            <a:avLst>
              <a:gd name="adj" fmla="val 10000"/>
            </a:avLst>
          </a:prstGeom>
          <a:solidFill>
            <a:srgbClr val="E8B923"/>
          </a:solidFill>
          <a:ln/>
        </p:spPr>
      </p:sp>
      <p:sp>
        <p:nvSpPr>
          <p:cNvPr id="32" name="Text 23"/>
          <p:cNvSpPr/>
          <p:nvPr/>
        </p:nvSpPr>
        <p:spPr>
          <a:xfrm>
            <a:off x="6766560" y="5760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Decisions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Six-Month Engineering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17320" y="3429000"/>
            <a:ext cx="9418320" cy="0"/>
          </a:xfrm>
          <a:prstGeom prst="line">
            <a:avLst/>
          </a:prstGeom>
          <a:noFill/>
          <a:ln w="38100">
            <a:solidFill>
              <a:srgbClr val="D8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3255264"/>
            <a:ext cx="347472" cy="34747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3009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417320" y="3017520"/>
            <a:ext cx="0" cy="237744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91640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Mavim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15179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mapping across FP&amp;A, ATR, TTC, PBS, DMO, SCF; Mavim STP layouts; Mavim Certification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127248" y="3255264"/>
            <a:ext cx="347472" cy="34747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0944" y="33009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00984" y="3602736"/>
            <a:ext cx="0" cy="237744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2304" y="384048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3931920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&amp; ETL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42032" y="4297680"/>
            <a:ext cx="15179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SharePoint list DB, indexed queries; Python + pandas ETL pipeline; SharePoint &amp; Python Certifications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5010912" y="3255264"/>
            <a:ext cx="347472" cy="34747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33009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84648" y="3017520"/>
            <a:ext cx="0" cy="237744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15968" y="160020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5696" y="1691640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UI &amp; Identity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25696" y="2057400"/>
            <a:ext cx="15179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 HC 2026 wizard front-end in Power Fx; ClearCollect state management; Entra ID / Office365Users integration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894576" y="3255264"/>
            <a:ext cx="347472" cy="34747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33009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68312" y="3602736"/>
            <a:ext cx="0" cy="237744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9632" y="384048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931920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DAX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09360" y="4297680"/>
            <a:ext cx="15179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alert pipeline; SharePoint ↔ Power BI linkage; DAX scoring &amp; compliance measures; Power BI Certification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8778240" y="3255264"/>
            <a:ext cx="347472" cy="34747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31936" y="33009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51976" y="3017520"/>
            <a:ext cx="0" cy="237744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83296" y="160020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93024" y="1691640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Tracker &amp; SIPOC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93024" y="2057400"/>
            <a:ext cx="15179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Opportunity Tracker launched; SIPOC + escalation matrix audit across 8 business units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10661904" y="3255264"/>
            <a:ext cx="347472" cy="34747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0" y="33009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835640" y="3602736"/>
            <a:ext cx="0" cy="237744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66960" y="384048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76688" y="3931920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&amp; Handover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076688" y="4297680"/>
            <a:ext cx="15179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cleanup via Graph API; Power Fx query refactor; tenant deployment, manuals, developer training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GBS HC 2026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Health-Check Wizard: Why a Canvas App?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evaluated two architectures before committing to a Power Apps canvas application over SharePoint storage.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F7F7F9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679192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Forms + Power Automate</a:t>
            </a:r>
            <a:endParaRPr lang="en-US" sz="1700" dirty="0"/>
          </a:p>
        </p:txBody>
      </p:sp>
      <p:pic>
        <p:nvPicPr>
          <p:cNvPr id="8" name="Image 0" descr="icons/warning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337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329184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per-tower screen branching or context-aware filtering</a:t>
            </a:r>
            <a:endParaRPr lang="en-US" sz="1200" dirty="0"/>
          </a:p>
        </p:txBody>
      </p:sp>
      <p:pic>
        <p:nvPicPr>
          <p:cNvPr id="10" name="Image 1" descr="icons/warning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148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40690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flat CSVs needing heavy translation before SharePoint</a:t>
            </a:r>
            <a:endParaRPr lang="en-US" sz="1200" dirty="0"/>
          </a:p>
        </p:txBody>
      </p:sp>
      <p:pic>
        <p:nvPicPr>
          <p:cNvPr id="12" name="Image 2" descr="icons/warning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8920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484632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realistically handle 47 checks across 6 towers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355080" y="2148840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161C4A"/>
          </a:solidFill>
          <a:ln/>
        </p:spPr>
      </p:sp>
      <p:sp>
        <p:nvSpPr>
          <p:cNvPr id="15" name="Text 10"/>
          <p:cNvSpPr/>
          <p:nvPr/>
        </p:nvSpPr>
        <p:spPr>
          <a:xfrm>
            <a:off x="66751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675120" y="2679192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Apps Canvas over SharePoint</a:t>
            </a:r>
            <a:endParaRPr lang="en-US" sz="1700" dirty="0"/>
          </a:p>
        </p:txBody>
      </p:sp>
      <p:pic>
        <p:nvPicPr>
          <p:cNvPr id="17" name="Image 3" descr="icons/check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3375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86600" y="329184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screen states, custom logic, identity context</a:t>
            </a:r>
            <a:endParaRPr lang="en-US" sz="1200" dirty="0"/>
          </a:p>
        </p:txBody>
      </p:sp>
      <p:pic>
        <p:nvPicPr>
          <p:cNvPr id="19" name="Image 4" descr="icons/checkcirc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11480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86600" y="40690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User().Email resolves role against Entra ID lookup table</a:t>
            </a:r>
            <a:endParaRPr lang="en-US" sz="1200" dirty="0"/>
          </a:p>
        </p:txBody>
      </p:sp>
      <p:pic>
        <p:nvPicPr>
          <p:cNvPr id="21" name="Image 5" descr="icons/checkcircl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892040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86600" y="484632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writes to strictly-typed SharePoint columns — no file handling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GBS HC 2026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Functional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7393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usersco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6" y="1905610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73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Profile Verification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19842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Office365Users.MyProfile() resolves tower permissions automatically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8640" y="2569464"/>
            <a:ext cx="6492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43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filt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6" y="28748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426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Content Rendering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17320" y="29535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 builds a live collection showing only relevant tower/pillar questions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538728"/>
            <a:ext cx="6492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37124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checkcirc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6" y="3844138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Checking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17320" y="392277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0-5 bounded sliders; CountIf() locks submission until all fields are complete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4507992"/>
            <a:ext cx="6492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6817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6" y="481340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58114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Integration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17320" y="4892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Patch() writes validated records into 12 explicit, analytics-ready columns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5477256"/>
            <a:ext cx="6492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3232" y="56509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/bell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6" y="578266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5504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Alert Loop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417320" y="586130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flow scans for missing logs and fires targeted reminder alerts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7360920" y="1600200"/>
            <a:ext cx="4251960" cy="4617720"/>
          </a:xfrm>
          <a:prstGeom prst="roundRect">
            <a:avLst>
              <a:gd name="adj" fmla="val 1720"/>
            </a:avLst>
          </a:prstGeom>
          <a:solidFill>
            <a:srgbClr val="1E2761"/>
          </a:solidFill>
          <a:ln/>
        </p:spPr>
      </p:sp>
      <p:sp>
        <p:nvSpPr>
          <p:cNvPr id="30" name="Text 23"/>
          <p:cNvSpPr/>
          <p:nvPr/>
        </p:nvSpPr>
        <p:spPr>
          <a:xfrm>
            <a:off x="7680960" y="18288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680960" y="2377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800" dirty="0"/>
          </a:p>
        </p:txBody>
      </p:sp>
      <p:sp>
        <p:nvSpPr>
          <p:cNvPr id="32" name="Text 25"/>
          <p:cNvSpPr/>
          <p:nvPr/>
        </p:nvSpPr>
        <p:spPr>
          <a:xfrm>
            <a:off x="9052560" y="24505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7680960" y="31363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34" name="Text 27"/>
          <p:cNvSpPr/>
          <p:nvPr/>
        </p:nvSpPr>
        <p:spPr>
          <a:xfrm>
            <a:off x="9052560" y="320954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 towers covered (EU + NA)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7680960" y="389534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36" name="Text 29"/>
          <p:cNvSpPr/>
          <p:nvPr/>
        </p:nvSpPr>
        <p:spPr>
          <a:xfrm>
            <a:off x="9052560" y="396849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list columns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7680960" y="465429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&lt;8 min</a:t>
            </a:r>
            <a:endParaRPr lang="en-US" sz="2800" dirty="0"/>
          </a:p>
        </p:txBody>
      </p:sp>
      <p:sp>
        <p:nvSpPr>
          <p:cNvPr id="38" name="Text 31"/>
          <p:cNvSpPr/>
          <p:nvPr/>
        </p:nvSpPr>
        <p:spPr>
          <a:xfrm>
            <a:off x="9052560" y="47274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form completion time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7680960" y="541324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40" name="Text 33"/>
          <p:cNvSpPr/>
          <p:nvPr/>
        </p:nvSpPr>
        <p:spPr>
          <a:xfrm>
            <a:off x="9052560" y="5486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windows missed, Feb–Aug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AIT TRACKER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AIT: Application Intelligence &amp; Opportunity Tracker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process-improvement ideas were logged unsystematically — buried in email chains, chat logs, and personal notes — with no clear ownership or cross-tower visibility.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4963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chartb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637" y="2609469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08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33558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ideas by execution phase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233172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0" y="24963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clipboardlis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397" y="2609469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3108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Form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291840" y="33558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new submissions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852160" y="233172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0" y="24963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usersco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157" y="2609469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43600" y="3108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Ideas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943600" y="33558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filter via User().Email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503920" y="233172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509760" y="24963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cog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2917" y="2609469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95360" y="3108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595360" y="33558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owners, adjust priorities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LIFECYCLE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4526280"/>
            <a:ext cx="2377440" cy="685800"/>
          </a:xfrm>
          <a:prstGeom prst="roundRect">
            <a:avLst>
              <a:gd name="adj" fmla="val 49333"/>
            </a:avLst>
          </a:prstGeom>
          <a:solidFill>
            <a:srgbClr val="1C7293"/>
          </a:solidFill>
          <a:ln/>
        </p:spPr>
      </p:sp>
      <p:sp>
        <p:nvSpPr>
          <p:cNvPr id="27" name="Text 21"/>
          <p:cNvSpPr/>
          <p:nvPr/>
        </p:nvSpPr>
        <p:spPr>
          <a:xfrm>
            <a:off x="548640" y="4526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2926080" y="4869180"/>
            <a:ext cx="320040" cy="0"/>
          </a:xfrm>
          <a:prstGeom prst="line">
            <a:avLst/>
          </a:prstGeom>
          <a:noFill/>
          <a:ln w="25400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3246120" y="4526280"/>
            <a:ext cx="2377440" cy="685800"/>
          </a:xfrm>
          <a:prstGeom prst="roundRect">
            <a:avLst>
              <a:gd name="adj" fmla="val 49333"/>
            </a:avLst>
          </a:prstGeom>
          <a:solidFill>
            <a:srgbClr val="E8B923"/>
          </a:solidFill>
          <a:ln/>
        </p:spPr>
      </p:sp>
      <p:sp>
        <p:nvSpPr>
          <p:cNvPr id="30" name="Text 24"/>
          <p:cNvSpPr/>
          <p:nvPr/>
        </p:nvSpPr>
        <p:spPr>
          <a:xfrm>
            <a:off x="3246120" y="4526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5623560" y="4869180"/>
            <a:ext cx="320040" cy="0"/>
          </a:xfrm>
          <a:prstGeom prst="line">
            <a:avLst/>
          </a:prstGeom>
          <a:noFill/>
          <a:ln w="25400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5943600" y="4526280"/>
            <a:ext cx="2377440" cy="685800"/>
          </a:xfrm>
          <a:prstGeom prst="roundRect">
            <a:avLst>
              <a:gd name="adj" fmla="val 49333"/>
            </a:avLst>
          </a:prstGeom>
          <a:solidFill>
            <a:srgbClr val="E67E22"/>
          </a:solidFill>
          <a:ln/>
        </p:spPr>
      </p:sp>
      <p:sp>
        <p:nvSpPr>
          <p:cNvPr id="33" name="Text 27"/>
          <p:cNvSpPr/>
          <p:nvPr/>
        </p:nvSpPr>
        <p:spPr>
          <a:xfrm>
            <a:off x="5943600" y="4526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8321040" y="4869180"/>
            <a:ext cx="320040" cy="0"/>
          </a:xfrm>
          <a:prstGeom prst="line">
            <a:avLst/>
          </a:prstGeom>
          <a:noFill/>
          <a:ln w="25400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8641080" y="4526280"/>
            <a:ext cx="2377440" cy="685800"/>
          </a:xfrm>
          <a:prstGeom prst="roundRect">
            <a:avLst>
              <a:gd name="adj" fmla="val 49333"/>
            </a:avLst>
          </a:prstGeom>
          <a:solidFill>
            <a:srgbClr val="2E9E5B"/>
          </a:solidFill>
          <a:ln/>
        </p:spPr>
      </p:sp>
      <p:sp>
        <p:nvSpPr>
          <p:cNvPr id="36" name="Text 30"/>
          <p:cNvSpPr/>
          <p:nvPr/>
        </p:nvSpPr>
        <p:spPr>
          <a:xfrm>
            <a:off x="8641080" y="4526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548640" y="5486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idea captures title, description, business unit, priority, estimated impact, and execution state — instantly visible to team leaders and explicitly trackable.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DATA MIGRATION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 Data Consolidation: The Python ETL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of legacy health-check data across FP&amp;A, ATR, TTC and PBS sat in 24 mismatched spreadsheets — custom budget schemas, folder-name metadata, and mixed string/numeric scores.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2606040" cy="36576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14600"/>
            <a:ext cx="2606040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00200" y="28620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0" descr="icons/layergroup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3357" y="2975229"/>
            <a:ext cx="276606" cy="2766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" y="350215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Traversal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" y="3904488"/>
            <a:ext cx="2386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scans folders; extracts PBS metadata from folder names; regex-classifies ATR regional zones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54680" y="3497580"/>
            <a:ext cx="256032" cy="0"/>
          </a:xfrm>
          <a:prstGeom prst="line">
            <a:avLst/>
          </a:prstGeom>
          <a:noFill/>
          <a:ln w="25400">
            <a:solidFill>
              <a:srgbClr val="B9C2D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410712" y="233172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10712" y="2331720"/>
            <a:ext cx="2606040" cy="36576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</p:sp>
      <p:sp>
        <p:nvSpPr>
          <p:cNvPr id="16" name="Shape 13"/>
          <p:cNvSpPr/>
          <p:nvPr/>
        </p:nvSpPr>
        <p:spPr>
          <a:xfrm>
            <a:off x="3410712" y="2514600"/>
            <a:ext cx="2606040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3410712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62272" y="28620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1" descr="icons/table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429" y="2975229"/>
            <a:ext cx="276606" cy="27660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20440" y="350215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Normalization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3520440" y="3904488"/>
            <a:ext cx="2386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lookup map translates 24 files' variable headings into the standard 12-column layout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016752" y="3497580"/>
            <a:ext cx="256032" cy="0"/>
          </a:xfrm>
          <a:prstGeom prst="line">
            <a:avLst/>
          </a:prstGeom>
          <a:noFill/>
          <a:ln w="25400">
            <a:solidFill>
              <a:srgbClr val="B9C2DD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6272784" y="233172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272784" y="2331720"/>
            <a:ext cx="2606040" cy="36576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</p:sp>
      <p:sp>
        <p:nvSpPr>
          <p:cNvPr id="25" name="Shape 21"/>
          <p:cNvSpPr/>
          <p:nvPr/>
        </p:nvSpPr>
        <p:spPr>
          <a:xfrm>
            <a:off x="6272784" y="2514600"/>
            <a:ext cx="2606040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2"/>
          <p:cNvSpPr/>
          <p:nvPr/>
        </p:nvSpPr>
        <p:spPr>
          <a:xfrm>
            <a:off x="6272784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7324344" y="28620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2" descr="icons/broom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501" y="2975229"/>
            <a:ext cx="276606" cy="27660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82512" y="350215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382512" y="3904488"/>
            <a:ext cx="2386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scores → float64; timestamps via pd.to_datetime; entries verified against picklist constraints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8878824" y="3497580"/>
            <a:ext cx="256032" cy="0"/>
          </a:xfrm>
          <a:prstGeom prst="line">
            <a:avLst/>
          </a:prstGeom>
          <a:noFill/>
          <a:ln w="25400">
            <a:solidFill>
              <a:srgbClr val="B9C2DD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9134856" y="233172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134856" y="2331720"/>
            <a:ext cx="2606040" cy="36576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</p:sp>
      <p:sp>
        <p:nvSpPr>
          <p:cNvPr id="34" name="Shape 29"/>
          <p:cNvSpPr/>
          <p:nvPr/>
        </p:nvSpPr>
        <p:spPr>
          <a:xfrm>
            <a:off x="9134856" y="2514600"/>
            <a:ext cx="2606040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0"/>
          <p:cNvSpPr/>
          <p:nvPr/>
        </p:nvSpPr>
        <p:spPr>
          <a:xfrm>
            <a:off x="9134856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10186416" y="28620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7" name="Image 3" descr="icons/cloudupload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9573" y="2975229"/>
            <a:ext cx="276606" cy="27660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244584" y="3502152"/>
            <a:ext cx="2386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 Streaming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9244584" y="3904488"/>
            <a:ext cx="2386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records batched and posted into SharePoint via token-authenticated Graph API calls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548640" y="50749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1,827</a:t>
            </a:r>
            <a:endParaRPr lang="en-US" sz="3000" dirty="0"/>
          </a:p>
        </p:txBody>
      </p:sp>
      <p:sp>
        <p:nvSpPr>
          <p:cNvPr id="41" name="Text 35"/>
          <p:cNvSpPr/>
          <p:nvPr/>
        </p:nvSpPr>
        <p:spPr>
          <a:xfrm>
            <a:off x="548640" y="56418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migrated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3410712" y="50749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000" dirty="0"/>
          </a:p>
        </p:txBody>
      </p:sp>
      <p:sp>
        <p:nvSpPr>
          <p:cNvPr id="43" name="Text 37"/>
          <p:cNvSpPr/>
          <p:nvPr/>
        </p:nvSpPr>
        <p:spPr>
          <a:xfrm>
            <a:off x="3410712" y="56418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unified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6272784" y="50749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5" name="Text 39"/>
          <p:cNvSpPr/>
          <p:nvPr/>
        </p:nvSpPr>
        <p:spPr>
          <a:xfrm>
            <a:off x="6272784" y="56418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towers consolidated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9134856" y="50749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7" name="Text 41"/>
          <p:cNvSpPr/>
          <p:nvPr/>
        </p:nvSpPr>
        <p:spPr>
          <a:xfrm>
            <a:off x="9134856" y="56418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truth source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ANALYTICS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Turning Clean Data into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chartlin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223685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average score timelines alongside an intake completion matrix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table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451" y="223685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880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Tower Detail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33832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question-level metrics tracked by month and department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2F6E4E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chartbar_2F6E4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211" y="223685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880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Analysis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33832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shifts — drop-offs flagged red, progress flagged green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BEHIND THE VIEWS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Average Score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grouped by tower &amp; pillar for line charts   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Rate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heatmap of complete vs. missing logs   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Delta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performance trajectory vs. prior cycle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— GOVERNANCE DOCS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SIPOC &amp; Escalation Matrix Standardisation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business units, eight formats. We built one navy / teal / gold template — five strict tracks (Supplier, Input, Process, Output, Customer) plus standardized escalation tabs — and a Python script to populate it from a single config source.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1207008" cy="54864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0"/>
            <a:ext cx="1207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55648" y="3474720"/>
            <a:ext cx="91440" cy="0"/>
          </a:xfrm>
          <a:prstGeom prst="line">
            <a:avLst/>
          </a:prstGeom>
          <a:noFill/>
          <a:ln w="19050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47088" y="3200400"/>
            <a:ext cx="1207008" cy="548640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847088" y="3200400"/>
            <a:ext cx="1207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54096" y="3474720"/>
            <a:ext cx="91440" cy="0"/>
          </a:xfrm>
          <a:prstGeom prst="line">
            <a:avLst/>
          </a:prstGeom>
          <a:noFill/>
          <a:ln w="19050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45536" y="3200400"/>
            <a:ext cx="1207008" cy="548640"/>
          </a:xfrm>
          <a:prstGeom prst="roundRect">
            <a:avLst>
              <a:gd name="adj" fmla="val 8333"/>
            </a:avLst>
          </a:prstGeom>
          <a:solidFill>
            <a:srgbClr val="E8B923"/>
          </a:solidFill>
          <a:ln/>
        </p:spPr>
      </p:sp>
      <p:sp>
        <p:nvSpPr>
          <p:cNvPr id="12" name="Text 10"/>
          <p:cNvSpPr/>
          <p:nvPr/>
        </p:nvSpPr>
        <p:spPr>
          <a:xfrm>
            <a:off x="3145536" y="3200400"/>
            <a:ext cx="1207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2544" y="3474720"/>
            <a:ext cx="91440" cy="0"/>
          </a:xfrm>
          <a:prstGeom prst="line">
            <a:avLst/>
          </a:prstGeom>
          <a:noFill/>
          <a:ln w="19050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43984" y="3200400"/>
            <a:ext cx="1207008" cy="548640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443984" y="3200400"/>
            <a:ext cx="1207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50992" y="3474720"/>
            <a:ext cx="91440" cy="0"/>
          </a:xfrm>
          <a:prstGeom prst="line">
            <a:avLst/>
          </a:prstGeom>
          <a:noFill/>
          <a:ln w="19050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42432" y="3200400"/>
            <a:ext cx="1207008" cy="54864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742432" y="3200400"/>
            <a:ext cx="1207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asset passes validation checks for metadata completeness before handoff to tower owners.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1481328"/>
            <a:ext cx="4160520" cy="46177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168249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TOWERS — FULLY STANDARDISED</a:t>
            </a:r>
            <a:endParaRPr lang="en-US" sz="1150" dirty="0"/>
          </a:p>
        </p:txBody>
      </p:sp>
      <p:pic>
        <p:nvPicPr>
          <p:cNvPr id="22" name="Image 0" descr="icons/checkcircle_2E9E5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185416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046720" y="2112264"/>
            <a:ext cx="1531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300" dirty="0"/>
          </a:p>
        </p:txBody>
      </p:sp>
      <p:pic>
        <p:nvPicPr>
          <p:cNvPr id="24" name="Image 1" descr="icons/checkcircle_2E9E5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780" y="2185416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989820" y="2112264"/>
            <a:ext cx="1531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DMO</a:t>
            </a:r>
            <a:endParaRPr lang="en-US" sz="1300" dirty="0"/>
          </a:p>
        </p:txBody>
      </p:sp>
      <p:pic>
        <p:nvPicPr>
          <p:cNvPr id="26" name="Image 2" descr="icons/checkcircle_2E9E5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752344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046720" y="2679192"/>
            <a:ext cx="1531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pic>
        <p:nvPicPr>
          <p:cNvPr id="28" name="Image 3" descr="icons/checkcircle_2E9E5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0" y="2752344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989820" y="2679192"/>
            <a:ext cx="1531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</a:t>
            </a:r>
            <a:endParaRPr lang="en-US" sz="1300" dirty="0"/>
          </a:p>
        </p:txBody>
      </p:sp>
      <p:pic>
        <p:nvPicPr>
          <p:cNvPr id="30" name="Image 4" descr="icons/checkcircle_2E9E5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319272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046720" y="3246120"/>
            <a:ext cx="1531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AP/PTP</a:t>
            </a:r>
            <a:endParaRPr lang="en-US" sz="1300" dirty="0"/>
          </a:p>
        </p:txBody>
      </p:sp>
      <p:pic>
        <p:nvPicPr>
          <p:cNvPr id="32" name="Image 5" descr="icons/checkcircle_2E9E5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9780" y="3319272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989820" y="3246120"/>
            <a:ext cx="1531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</a:t>
            </a:r>
            <a:endParaRPr lang="en-US" sz="1300" dirty="0"/>
          </a:p>
        </p:txBody>
      </p:sp>
      <p:pic>
        <p:nvPicPr>
          <p:cNvPr id="34" name="Image 6" descr="icons/checkcircle_2E9E5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3886200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046720" y="3813048"/>
            <a:ext cx="1531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</a:t>
            </a:r>
            <a:endParaRPr lang="en-US" sz="1300" dirty="0"/>
          </a:p>
        </p:txBody>
      </p:sp>
      <p:pic>
        <p:nvPicPr>
          <p:cNvPr id="36" name="Image 7" descr="icons/checkcircle_2E9E5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9780" y="3886200"/>
            <a:ext cx="237744" cy="23774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989820" y="3813048"/>
            <a:ext cx="1531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70048" cy="4480560"/>
          </a:xfrm>
          <a:prstGeom prst="roundRect">
            <a:avLst>
              <a:gd name="adj" fmla="val 2740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01952"/>
            <a:ext cx="2670048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55064" y="2423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icons/mobil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934" y="252603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953512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Canvas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655064" y="36301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bell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934" y="3733038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" y="416052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655064" y="48371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icons/chartbar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934" y="4940046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" y="5367528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355848" y="1645920"/>
            <a:ext cx="2670048" cy="4480560"/>
          </a:xfrm>
          <a:prstGeom prst="roundRect">
            <a:avLst>
              <a:gd name="adj" fmla="val 2740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355848" y="164592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9" name="Shape 14"/>
          <p:cNvSpPr/>
          <p:nvPr/>
        </p:nvSpPr>
        <p:spPr>
          <a:xfrm>
            <a:off x="3355848" y="1901952"/>
            <a:ext cx="2670048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5"/>
          <p:cNvSpPr/>
          <p:nvPr/>
        </p:nvSpPr>
        <p:spPr>
          <a:xfrm>
            <a:off x="3355848" y="1645920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462272" y="2423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icons/database_1C729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142" y="252603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465576" y="2953512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62272" y="36301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icons/usershield_1C729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142" y="3733038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465576" y="416052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462272" y="48371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icons/fileexcel_1C729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5142" y="4940046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465576" y="5367528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openpyxl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163056" y="1645920"/>
            <a:ext cx="2670048" cy="4480560"/>
          </a:xfrm>
          <a:prstGeom prst="roundRect">
            <a:avLst>
              <a:gd name="adj" fmla="val 2740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163056" y="164592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8A6D00"/>
          </a:solidFill>
          <a:ln/>
        </p:spPr>
      </p:sp>
      <p:sp>
        <p:nvSpPr>
          <p:cNvPr id="32" name="Shape 24"/>
          <p:cNvSpPr/>
          <p:nvPr/>
        </p:nvSpPr>
        <p:spPr>
          <a:xfrm>
            <a:off x="6163056" y="1901952"/>
            <a:ext cx="2670048" cy="246888"/>
          </a:xfrm>
          <a:prstGeom prst="rect">
            <a:avLst/>
          </a:prstGeom>
          <a:solidFill>
            <a:srgbClr val="8A6D00"/>
          </a:solidFill>
          <a:ln/>
        </p:spPr>
      </p:sp>
      <p:sp>
        <p:nvSpPr>
          <p:cNvPr id="33" name="Text 25"/>
          <p:cNvSpPr/>
          <p:nvPr/>
        </p:nvSpPr>
        <p:spPr>
          <a:xfrm>
            <a:off x="6163056" y="1645920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6" descr="icons/python_8A6D0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2350" y="2526030"/>
            <a:ext cx="251460" cy="2514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272784" y="2953512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requests)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7269480" y="36301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7" descr="icons/cogs_8A6D0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2350" y="3733038"/>
            <a:ext cx="251460" cy="2514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272784" y="416052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Fx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7269480" y="48371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8" descr="icons/chartline_8A6D0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350" y="4940046"/>
            <a:ext cx="251460" cy="25146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272784" y="5367528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43" name="Shape 32"/>
          <p:cNvSpPr/>
          <p:nvPr/>
        </p:nvSpPr>
        <p:spPr>
          <a:xfrm>
            <a:off x="8970264" y="1645920"/>
            <a:ext cx="2670048" cy="4480560"/>
          </a:xfrm>
          <a:prstGeom prst="roundRect">
            <a:avLst>
              <a:gd name="adj" fmla="val 2740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8970264" y="164592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2F6E4E"/>
          </a:solidFill>
          <a:ln/>
        </p:spPr>
      </p:sp>
      <p:sp>
        <p:nvSpPr>
          <p:cNvPr id="45" name="Shape 34"/>
          <p:cNvSpPr/>
          <p:nvPr/>
        </p:nvSpPr>
        <p:spPr>
          <a:xfrm>
            <a:off x="8970264" y="1901952"/>
            <a:ext cx="2670048" cy="246888"/>
          </a:xfrm>
          <a:prstGeom prst="rect">
            <a:avLst/>
          </a:prstGeom>
          <a:solidFill>
            <a:srgbClr val="2F6E4E"/>
          </a:solidFill>
          <a:ln/>
        </p:spPr>
      </p:sp>
      <p:sp>
        <p:nvSpPr>
          <p:cNvPr id="46" name="Text 35"/>
          <p:cNvSpPr/>
          <p:nvPr/>
        </p:nvSpPr>
        <p:spPr>
          <a:xfrm>
            <a:off x="8970264" y="1645920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47" name="Shape 36"/>
          <p:cNvSpPr/>
          <p:nvPr/>
        </p:nvSpPr>
        <p:spPr>
          <a:xfrm>
            <a:off x="10076688" y="2423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9" descr="icons/sitemap_2F6E4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9558" y="2526030"/>
            <a:ext cx="251460" cy="251460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9079992" y="2953512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Mavim</a:t>
            </a:r>
            <a:endParaRPr lang="en-US" sz="1050" dirty="0"/>
          </a:p>
        </p:txBody>
      </p:sp>
      <p:sp>
        <p:nvSpPr>
          <p:cNvPr id="50" name="Shape 38"/>
          <p:cNvSpPr/>
          <p:nvPr/>
        </p:nvSpPr>
        <p:spPr>
          <a:xfrm>
            <a:off x="10076688" y="36301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1" name="Image 10" descr="icons/handshake_2F6E4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9558" y="3733038"/>
            <a:ext cx="251460" cy="251460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9079992" y="416052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050" dirty="0"/>
          </a:p>
        </p:txBody>
      </p:sp>
      <p:sp>
        <p:nvSpPr>
          <p:cNvPr id="53" name="Text 4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54" name="Text 4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How We Solved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190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562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27632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 Power Apps under production pressure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864608" y="162763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delegation errors, HTML profile bugs, state loss across screens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8229600" y="1709928"/>
            <a:ext cx="0" cy="566928"/>
          </a:xfrm>
          <a:prstGeom prst="line">
            <a:avLst/>
          </a:prstGeom>
          <a:noFill/>
          <a:ln w="12700">
            <a:solidFill>
              <a:srgbClr val="E2E8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162763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2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indexes for server-side delegation; text-vector profile writes; local session collections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548640" y="2468880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6151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s/warn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5234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523744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structurally inconsistent HC spreadsheets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864608" y="2523744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budget layouts, folder-based metadata, mixed string/float scores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8229600" y="2606040"/>
            <a:ext cx="0" cy="566928"/>
          </a:xfrm>
          <a:prstGeom prst="line">
            <a:avLst/>
          </a:prstGeom>
          <a:noFill/>
          <a:ln w="12700">
            <a:solidFill>
              <a:srgbClr val="E2E8F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66760" y="252374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2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adapter architecture in Python isolating column remap, path parsing, and typecasting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548640" y="3364992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5800" y="351129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icons/warn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4845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419856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Cross-tower coordination across time zones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864608" y="3419856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late entries within tight monthly TAT windows</a:t>
            </a:r>
            <a:endParaRPr lang="en-US" sz="980" dirty="0"/>
          </a:p>
        </p:txBody>
      </p:sp>
      <p:sp>
        <p:nvSpPr>
          <p:cNvPr id="23" name="Shape 18"/>
          <p:cNvSpPr/>
          <p:nvPr/>
        </p:nvSpPr>
        <p:spPr>
          <a:xfrm>
            <a:off x="8229600" y="3502152"/>
            <a:ext cx="0" cy="566928"/>
          </a:xfrm>
          <a:prstGeom prst="line">
            <a:avLst/>
          </a:prstGeom>
          <a:noFill/>
          <a:ln w="12700">
            <a:solidFill>
              <a:srgbClr val="E2E8F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66760" y="3419856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2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SharePoint tracking matrix — cut missing-entry chase time by 60–70%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548640" y="4261104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5800" y="44074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icons/warnin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4456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4315968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async race conditions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864608" y="4315968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rendered before Office365Users.MyProfile() resolved, causing blank fields</a:t>
            </a:r>
            <a:endParaRPr lang="en-US" sz="980" dirty="0"/>
          </a:p>
        </p:txBody>
      </p:sp>
      <p:sp>
        <p:nvSpPr>
          <p:cNvPr id="30" name="Shape 24"/>
          <p:cNvSpPr/>
          <p:nvPr/>
        </p:nvSpPr>
        <p:spPr>
          <a:xfrm>
            <a:off x="8229600" y="4398264"/>
            <a:ext cx="0" cy="566928"/>
          </a:xfrm>
          <a:prstGeom prst="line">
            <a:avLst/>
          </a:prstGeom>
          <a:noFill/>
          <a:ln w="12700">
            <a:solidFill>
              <a:srgbClr val="E2E8F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366760" y="431596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2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profile queries in the app's OnStart block, cached to a global variable</a:t>
            </a:r>
            <a:endParaRPr lang="en-US" sz="980" dirty="0"/>
          </a:p>
        </p:txBody>
      </p:sp>
      <p:sp>
        <p:nvSpPr>
          <p:cNvPr id="32" name="Shape 26"/>
          <p:cNvSpPr/>
          <p:nvPr/>
        </p:nvSpPr>
        <p:spPr>
          <a:xfrm>
            <a:off x="548640" y="5157216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85800" y="5303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icons/warning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44068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417320" y="521208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data integrity at scale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4864608" y="52120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Test/corrupted rows risked skewing production dashboards</a:t>
            </a:r>
            <a:endParaRPr lang="en-US" sz="980" dirty="0"/>
          </a:p>
        </p:txBody>
      </p:sp>
      <p:sp>
        <p:nvSpPr>
          <p:cNvPr id="37" name="Shape 30"/>
          <p:cNvSpPr/>
          <p:nvPr/>
        </p:nvSpPr>
        <p:spPr>
          <a:xfrm>
            <a:off x="8229600" y="5294376"/>
            <a:ext cx="0" cy="566928"/>
          </a:xfrm>
          <a:prstGeom prst="line">
            <a:avLst/>
          </a:prstGeom>
          <a:noFill/>
          <a:ln w="12700">
            <a:solidFill>
              <a:srgbClr val="E2E8F5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8366760" y="5212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2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Graph API audit tool flags anomalies and logs changes before safe removal</a:t>
            </a:r>
            <a:endParaRPr lang="en-US" sz="980" dirty="0"/>
          </a:p>
        </p:txBody>
      </p:sp>
      <p:sp>
        <p:nvSpPr>
          <p:cNvPr id="39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Across Six Months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574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TAT windows,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– Aug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0574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26280" y="3063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rows migrated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24 files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0574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75320" y="3063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Towers standardised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(SIPOC + escalation)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348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60–70%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77240" y="5440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chasing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entries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97680" y="42062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44348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526280" y="5440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earned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42062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4348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75320" y="5440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Power Apps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&amp; handed over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 &amp; Certifications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handshak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799082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58191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ownership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07008" y="1901952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→ production → training → refactor: a complete product lesson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80760" y="1673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icons/cog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490" y="1799082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39128" y="158191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is real engineering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739128" y="1901952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challenges as traditional dev — state, query optimization, security — inside a rigid runtime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29603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27432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before features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07008" y="30632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unmanaged workbooks cost weeks; the wizard now locks schema checks in at entry time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80760" y="2834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icons/rout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490" y="296037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39128" y="27432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coordination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739128" y="30632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follow-ups, self-service tools, and managing shifting deployment targets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4864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CERTIFICATIONS EARNED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572000"/>
            <a:ext cx="2093976" cy="1051560"/>
          </a:xfrm>
          <a:prstGeom prst="roundRect">
            <a:avLst>
              <a:gd name="adj" fmla="val 6087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22" name="Image 4" descr="icons/certificate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2748" y="470916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1792" y="5138928"/>
            <a:ext cx="1947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Mavim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2752344" y="4572000"/>
            <a:ext cx="2093976" cy="1051560"/>
          </a:xfrm>
          <a:prstGeom prst="roundRect">
            <a:avLst>
              <a:gd name="adj" fmla="val 6087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25" name="Image 5" descr="icons/certificate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6452" y="470916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825496" y="5138928"/>
            <a:ext cx="1947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4956048" y="4572000"/>
            <a:ext cx="2093976" cy="1051560"/>
          </a:xfrm>
          <a:prstGeom prst="roundRect">
            <a:avLst>
              <a:gd name="adj" fmla="val 6087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28" name="Image 6" descr="icons/certificate_1E276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0156" y="4709160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029200" y="5138928"/>
            <a:ext cx="1947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7159752" y="4572000"/>
            <a:ext cx="2093976" cy="1051560"/>
          </a:xfrm>
          <a:prstGeom prst="roundRect">
            <a:avLst>
              <a:gd name="adj" fmla="val 6087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31" name="Image 7" descr="icons/certificate_1E276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3860" y="4709160"/>
            <a:ext cx="365760" cy="36576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232904" y="5138928"/>
            <a:ext cx="1947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9363456" y="4572000"/>
            <a:ext cx="2093976" cy="1051560"/>
          </a:xfrm>
          <a:prstGeom prst="roundRect">
            <a:avLst>
              <a:gd name="adj" fmla="val 6087"/>
            </a:avLst>
          </a:prstGeom>
          <a:solidFill>
            <a:srgbClr val="F6F8FC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34" name="Image 8" descr="icons/certificate_1E276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27564" y="4709160"/>
            <a:ext cx="365760" cy="36576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436608" y="5138928"/>
            <a:ext cx="1947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</a:t>
            </a:r>
            <a:endParaRPr lang="en-US" sz="1050" dirty="0"/>
          </a:p>
        </p:txBody>
      </p:sp>
      <p:sp>
        <p:nvSpPr>
          <p:cNvPr id="36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Heinz GBS — Final Review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Digital Core for KHMS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production canvas apps replaced spreadsheet routines for tracking and idea capture. A structured SharePoint backend removed the friction of scattered files, our Python pipeline recovered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1,827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legacy data points, and standardisation aligned playbooks across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operating divisions — all while hitting every TAT target from February to August, built as modular, turn-key templates for the rest of GBS.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06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gratitude to Vikas Choudhary (Manager, KHMS/AIT) for mentorship and technical autonomy, Kraft Heinz GBS for trusting me with production infrastructure from day one, and DA-IICT for the academic foundation.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Vedang Trivedi  |  M.Tech ICT (Software Systems), DA-IICT  |  Intern, KHMS Digital Automation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2026-07-15T02:58:02Z</dcterms:created>
  <dcterms:modified xsi:type="dcterms:W3CDTF">2026-07-15T02:58:02Z</dcterms:modified>
</cp:coreProperties>
</file>