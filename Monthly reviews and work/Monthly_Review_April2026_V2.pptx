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2036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21744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411480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 rot="2700000">
            <a:off x="7589520" y="182880"/>
            <a:ext cx="640080" cy="640080"/>
          </a:xfrm>
          <a:prstGeom prst="rect">
            <a:avLst/>
          </a:prstGeom>
          <a:solidFill>
            <a:srgbClr val="F59E0B">
              <a:alpha val="70000"/>
            </a:srgbClr>
          </a:solidFill>
          <a:ln w="12700">
            <a:solidFill>
              <a:srgbClr val="F59E0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 rot="2700000">
            <a:off x="8138160" y="548640"/>
            <a:ext cx="411480" cy="411480"/>
          </a:xfrm>
          <a:prstGeom prst="rect">
            <a:avLst/>
          </a:prstGeom>
          <a:solidFill>
            <a:srgbClr val="FCD34D">
              <a:alpha val="50000"/>
            </a:srgbClr>
          </a:solidFill>
          <a:ln w="12700">
            <a:solidFill>
              <a:srgbClr val="FCD34D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 rot="2700000">
            <a:off x="8503920" y="137160"/>
            <a:ext cx="320040" cy="320040"/>
          </a:xfrm>
          <a:prstGeom prst="rect">
            <a:avLst/>
          </a:prstGeom>
          <a:solidFill>
            <a:srgbClr val="0D9488">
              <a:alpha val="60000"/>
            </a:srgbClr>
          </a:solidFill>
          <a:ln w="12700">
            <a:solidFill>
              <a:srgbClr val="0D948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583680" y="2560320"/>
            <a:ext cx="3474720" cy="347472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7315200" y="3108960"/>
            <a:ext cx="2011680" cy="2011680"/>
          </a:xfrm>
          <a:prstGeom prst="ellipse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F59E0B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502920" y="475488"/>
            <a:ext cx="2286000" cy="3108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02920" y="47548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0F1E3C"/>
                </a:solidFill>
              </a:rPr>
              <a:t>APRIL 2026 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914400"/>
            <a:ext cx="6400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</a:rPr>
              <a:t>Monthly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502920" y="1536192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CCFBF1"/>
                </a:solidFill>
              </a:rPr>
              <a:t>Performance Review</a:t>
            </a:r>
            <a:endParaRPr lang="en-US" sz="5400" dirty="0"/>
          </a:p>
        </p:txBody>
      </p:sp>
      <p:sp>
        <p:nvSpPr>
          <p:cNvPr id="15" name="Text 13"/>
          <p:cNvSpPr/>
          <p:nvPr/>
        </p:nvSpPr>
        <p:spPr>
          <a:xfrm>
            <a:off x="502920" y="233172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KPI Alignment &amp; Achievements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02920" y="2852928"/>
            <a:ext cx="36576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02920" y="299923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</a:rPr>
              <a:t>Presented to: Gupta, Anand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0" y="4297680"/>
            <a:ext cx="9144000" cy="845820"/>
          </a:xfrm>
          <a:prstGeom prst="rect">
            <a:avLst/>
          </a:prstGeom>
          <a:solidFill>
            <a:srgbClr val="0D9488">
              <a:alpha val="85000"/>
            </a:srgbClr>
          </a:solidFill>
          <a:ln w="12700">
            <a:solidFill>
              <a:srgbClr val="0D9488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731520" y="4315968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CD34D"/>
                </a:solidFill>
              </a:rPr>
              <a:t>3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731520" y="469087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CCFBF1"/>
                </a:solidFill>
              </a:rPr>
              <a:t>KPIs COVERED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377440" y="4370832"/>
            <a:ext cx="27432" cy="640080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2834640" y="4315968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CD34D"/>
                </a:solidFill>
              </a:rPr>
              <a:t>9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2834640" y="469087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CCFBF1"/>
                </a:solidFill>
              </a:rPr>
              <a:t>DELIVERABLES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480560" y="4370832"/>
            <a:ext cx="27432" cy="640080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937760" y="4315968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CD34D"/>
                </a:solidFill>
              </a:rPr>
              <a:t>3/3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4937760" y="469087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CCFBF1"/>
                </a:solidFill>
              </a:rPr>
              <a:t>KPIs ACHIEVED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583680" y="4370832"/>
            <a:ext cx="27432" cy="640080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7040880" y="4315968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CD34D"/>
                </a:solidFill>
              </a:rPr>
              <a:t>✓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7040880" y="469087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CCFBF1"/>
                </a:solidFill>
              </a:rPr>
              <a:t>LINKEDIN LEARNING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E3C"/>
          </a:solidFill>
          <a:ln w="12700">
            <a:solidFill>
              <a:srgbClr val="0F1E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</a:rPr>
              <a:t>KEY PERFORMANCE INDICATORS  —  APRIL 2026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685800" y="749808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005840" y="749808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20040" y="1143000"/>
            <a:ext cx="85039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52400" dist="381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320040" y="1143000"/>
            <a:ext cx="1097280" cy="1051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20040" y="1143000"/>
            <a:ext cx="1097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</a:rPr>
              <a:t>01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1554480" y="1234440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4155"/>
                </a:solidFill>
              </a:rPr>
              <a:t>Health Check Timeliness &amp; Coverage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54480" y="1627632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% of health checks consolidated and shared within TAT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92240" y="1234440"/>
            <a:ext cx="2148840" cy="246888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492240" y="1234440"/>
            <a:ext cx="2148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</a:rPr>
              <a:t>Power BI Coordination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492240" y="1545336"/>
            <a:ext cx="2148840" cy="246888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492240" y="1545336"/>
            <a:ext cx="2148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</a:rPr>
              <a:t>HC Data Consolidation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492240" y="1856232"/>
            <a:ext cx="2148840" cy="246888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8" name="Text 16"/>
          <p:cNvSpPr/>
          <p:nvPr/>
        </p:nvSpPr>
        <p:spPr>
          <a:xfrm>
            <a:off x="6492240" y="1856232"/>
            <a:ext cx="2148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</a:rPr>
              <a:t>Reporting and Validation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2377440"/>
            <a:ext cx="85039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52400" dist="381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320040" y="2377440"/>
            <a:ext cx="1097280" cy="10515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20040" y="2377440"/>
            <a:ext cx="1097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</a:rPr>
              <a:t>02</a:t>
            </a:r>
            <a:endParaRPr lang="en-US" sz="3800" dirty="0"/>
          </a:p>
        </p:txBody>
      </p:sp>
      <p:sp>
        <p:nvSpPr>
          <p:cNvPr id="22" name="Text 20"/>
          <p:cNvSpPr/>
          <p:nvPr/>
        </p:nvSpPr>
        <p:spPr>
          <a:xfrm>
            <a:off x="1554480" y="2468880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4155"/>
                </a:solidFill>
              </a:rPr>
              <a:t>SharePoint Automation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554480" y="2862072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No. of manual steps eliminated via Power App &amp; SharePoint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92240" y="2468880"/>
            <a:ext cx="2148840" cy="246888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492240" y="2468880"/>
            <a:ext cx="2148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</a:rPr>
              <a:t>Power App Development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92240" y="2779776"/>
            <a:ext cx="2148840" cy="246888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492240" y="2779776"/>
            <a:ext cx="2148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</a:rPr>
              <a:t>SharePoint Lists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492240" y="3090672"/>
            <a:ext cx="2148840" cy="246888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9" name="Text 27"/>
          <p:cNvSpPr/>
          <p:nvPr/>
        </p:nvSpPr>
        <p:spPr>
          <a:xfrm>
            <a:off x="6492240" y="3090672"/>
            <a:ext cx="2148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</a:rPr>
              <a:t>SIPOC and escalation matrix </a:t>
            </a:r>
            <a:r>
              <a:rPr lang="en-US" sz="900" b="1" dirty="0" err="1">
                <a:solidFill>
                  <a:srgbClr val="2563EB"/>
                </a:solidFill>
              </a:rPr>
              <a:t>standardisation</a:t>
            </a:r>
            <a:r>
              <a:rPr lang="en-US" sz="900" b="1" dirty="0">
                <a:solidFill>
                  <a:srgbClr val="2563EB"/>
                </a:solidFill>
              </a:rPr>
              <a:t> and audits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0040" y="3611880"/>
            <a:ext cx="85039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52400" dist="381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20040" y="3611880"/>
            <a:ext cx="1097280" cy="10515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20040" y="3611880"/>
            <a:ext cx="1097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</a:rPr>
              <a:t>03</a:t>
            </a:r>
            <a:endParaRPr lang="en-US" sz="3800" dirty="0"/>
          </a:p>
        </p:txBody>
      </p:sp>
      <p:sp>
        <p:nvSpPr>
          <p:cNvPr id="33" name="Text 31"/>
          <p:cNvSpPr/>
          <p:nvPr/>
        </p:nvSpPr>
        <p:spPr>
          <a:xfrm>
            <a:off x="1554480" y="3703320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4155"/>
                </a:solidFill>
              </a:rPr>
              <a:t>Learning &amp; Operational Excellence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554480" y="4096512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Learning of KHMS and continuous operational excellence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492240" y="3703320"/>
            <a:ext cx="2148840" cy="246888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6492240" y="3703320"/>
            <a:ext cx="2148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C3AED"/>
                </a:solidFill>
              </a:rPr>
              <a:t>LinkedIn Learning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492240" y="4014216"/>
            <a:ext cx="2148840" cy="246888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6492240" y="4014216"/>
            <a:ext cx="2148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C3AED"/>
                </a:solidFill>
              </a:rPr>
              <a:t>Tools Understanding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492240" y="4325112"/>
            <a:ext cx="2148840" cy="246888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6492240" y="4325112"/>
            <a:ext cx="2148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C3AED"/>
                </a:solidFill>
              </a:rPr>
              <a:t>KHMS Excellence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 rot="-600000">
            <a:off x="5943600" y="-274320"/>
            <a:ext cx="4114800" cy="173736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365760" y="164592"/>
            <a:ext cx="868680" cy="86868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65760" y="164592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371600" y="128016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</a:rPr>
              <a:t>KPI 1  ·  HEALTH CHECK TIMELINESS &amp; COVERAGE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71600" y="530352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Health Check Timeliness &amp; Coverage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772400" y="521208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8092440" y="521208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8412480" y="521208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20040" y="1371600"/>
            <a:ext cx="85039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381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20040" y="1371600"/>
            <a:ext cx="2103120" cy="1051560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594360" y="1627632"/>
            <a:ext cx="530352" cy="5303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94360" y="162763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34440" y="1481328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</a:rPr>
              <a:t>Power BI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</a:rPr>
              <a:t>Coordination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423160" y="1508760"/>
            <a:ext cx="27432" cy="77724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578608" y="1444752"/>
            <a:ext cx="6080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</a:rPr>
              <a:t>Coordinating Regularly with Power BI Team for HC Dashboard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578608" y="1801368"/>
            <a:ext cx="6080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Maintained regular touchpoints with the Power BI team to ensure health check data is accurately reflected in the dashboard and suggested changes and made some reiterations.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" y="2606040"/>
            <a:ext cx="85039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381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320040" y="2606040"/>
            <a:ext cx="2103120" cy="1051560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594360" y="2862072"/>
            <a:ext cx="530352" cy="5303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94360" y="28620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234440" y="2715768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</a:rPr>
              <a:t>Data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</a:rPr>
              <a:t>Consolidation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423160" y="2743200"/>
            <a:ext cx="27432" cy="77724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2578608" y="2679192"/>
            <a:ext cx="6080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</a:rPr>
              <a:t>Consolidating HC Data Across Towers, Pillars &amp; Tools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578608" y="3035808"/>
            <a:ext cx="6080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Gathered, cleaned, and standardised health check data spanning all towers, pillars, and tools, then migrated it to SharePoint ready for the Power BI team to consume.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20040" y="3840480"/>
            <a:ext cx="85039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381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320040" y="3840480"/>
            <a:ext cx="2103120" cy="1051560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594360" y="4096512"/>
            <a:ext cx="530352" cy="5303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594360" y="409651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234440" y="3950208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</a:rPr>
              <a:t>HC data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</a:rPr>
              <a:t>Validation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423160" y="3977640"/>
            <a:ext cx="27432" cy="77724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2578608" y="3913632"/>
            <a:ext cx="6080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</a:rPr>
              <a:t>Ensuring Full Health Check Coverage &amp; Reporting Accuracy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2578608" y="4270248"/>
            <a:ext cx="6080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Track status across teams, flagged gaps, and maintained accurate and up-to-date health check for further scope.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 rot="-600000">
            <a:off x="5943600" y="-274320"/>
            <a:ext cx="4114800" cy="173736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365760" y="164592"/>
            <a:ext cx="868680" cy="86868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65760" y="164592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02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371600" y="128016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</a:rPr>
              <a:t>KPI 2  ·  SHAREPOINT AUTOMATION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71600" y="530352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SharePoint Automation &amp; Manual Step Elimination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772400" y="521208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8092440" y="521208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8412480" y="521208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20040" y="1371600"/>
            <a:ext cx="85039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381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20040" y="1371600"/>
            <a:ext cx="2103120" cy="105156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594360" y="1627632"/>
            <a:ext cx="530352" cy="5303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94360" y="162763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34440" y="1481328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</a:rPr>
              <a:t>Power App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</a:rPr>
              <a:t>Development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423160" y="1508760"/>
            <a:ext cx="27432" cy="77724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578608" y="1444752"/>
            <a:ext cx="6080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</a:rPr>
              <a:t>Developing a Power App for Core Tools Health Check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578608" y="1801368"/>
            <a:ext cx="6080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Built a wizard-style Power App for KHMS health check assessments covering core tools, with SharePoint lists as the sole backend — enabling structured data capture and eliminating manual reporting steps.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" y="2606040"/>
            <a:ext cx="85039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381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320040" y="2606040"/>
            <a:ext cx="2103120" cy="105156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594360" y="2862072"/>
            <a:ext cx="530352" cy="5303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94360" y="28620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234440" y="2715768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</a:rPr>
              <a:t>SharePoint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</a:rPr>
              <a:t>Backend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423160" y="2743200"/>
            <a:ext cx="27432" cy="77724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2578608" y="2679192"/>
            <a:ext cx="6080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</a:rPr>
              <a:t>Maintaining SharePoint Lists &amp; Migrating HC Data for Power BI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578608" y="3035808"/>
            <a:ext cx="6080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Set up and maintained structured SharePoint lists as the Power App data store, and migrated cleaned HC data from across towers into SharePoint in a format ready for Power BI — cutting multiple manual handoff steps.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20040" y="3840480"/>
            <a:ext cx="85039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381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8" name="Shape 26"/>
          <p:cNvSpPr/>
          <p:nvPr/>
        </p:nvSpPr>
        <p:spPr>
          <a:xfrm>
            <a:off x="320040" y="3840480"/>
            <a:ext cx="2103120" cy="105156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594360" y="4096512"/>
            <a:ext cx="530352" cy="5303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594360" y="409651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234440" y="3950208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</a:rPr>
              <a:t>SIPOC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 err="1">
                <a:solidFill>
                  <a:srgbClr val="2563EB"/>
                </a:solidFill>
              </a:rPr>
              <a:t>Standardisation</a:t>
            </a:r>
            <a:r>
              <a:rPr lang="en-US" sz="1000" b="1" dirty="0">
                <a:solidFill>
                  <a:srgbClr val="2563EB"/>
                </a:solidFill>
              </a:rPr>
              <a:t>, audit,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423160" y="3977640"/>
            <a:ext cx="27432" cy="77724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2578608" y="3913632"/>
            <a:ext cx="6080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</a:rPr>
              <a:t>Consolidating SIPOCs and escalation matrices for various teams in standard format and auditing them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2578608" y="4270248"/>
            <a:ext cx="6080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Collected and </a:t>
            </a:r>
            <a:r>
              <a:rPr lang="en-US" sz="1050" dirty="0" err="1">
                <a:solidFill>
                  <a:srgbClr val="64748B"/>
                </a:solidFill>
              </a:rPr>
              <a:t>standardised</a:t>
            </a:r>
            <a:r>
              <a:rPr lang="en-US" sz="1050" dirty="0">
                <a:solidFill>
                  <a:srgbClr val="64748B"/>
                </a:solidFill>
              </a:rPr>
              <a:t> SIPOC and escalation documents from multiple teams into a uniform format on SharePoint, replacing scattered inconsistent versions with one governed source of truth and also validated its data.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 rot="-600000">
            <a:off x="5943600" y="-274320"/>
            <a:ext cx="4114800" cy="173736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365760" y="164592"/>
            <a:ext cx="868680" cy="86868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65760" y="164592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03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371600" y="128016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</a:rPr>
              <a:t>KPI 3  ·  LEARNING &amp; OPERATIONAL EXCELLENCE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71600" y="530352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Learning of KHMS &amp; Operational Excellence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772400" y="521208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8092440" y="521208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8412480" y="521208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20040" y="1371600"/>
            <a:ext cx="85039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381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20040" y="1371600"/>
            <a:ext cx="2103120" cy="1051560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594360" y="1627632"/>
            <a:ext cx="530352" cy="5303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94360" y="162763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34440" y="1481328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C3AED"/>
                </a:solidFill>
              </a:rPr>
              <a:t>LinkedIn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7C3AED"/>
                </a:solidFill>
              </a:rPr>
              <a:t>Learning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423160" y="1508760"/>
            <a:ext cx="27432" cy="77724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578608" y="1444752"/>
            <a:ext cx="6080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</a:rPr>
              <a:t>LinkedIn Learning Courses Completed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578608" y="1801368"/>
            <a:ext cx="6080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Completed multiple courses on LinkedIn Learning this month covering Power Platform, SharePoint, and operational excellence — building structured, certified knowledge alongside live project delivery.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" y="2606040"/>
            <a:ext cx="85039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381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320040" y="2606040"/>
            <a:ext cx="2103120" cy="1051560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594360" y="2862072"/>
            <a:ext cx="530352" cy="5303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94360" y="28620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234440" y="2715768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C3AED"/>
                </a:solidFill>
              </a:rPr>
              <a:t>Tools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7C3AED"/>
                </a:solidFill>
              </a:rPr>
              <a:t>Knowledge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423160" y="2743200"/>
            <a:ext cx="27432" cy="77724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2578608" y="2679192"/>
            <a:ext cx="6080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</a:rPr>
              <a:t>KHMS Tools Understanding Across Towers &amp; Pillars via Mocks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578608" y="3035808"/>
            <a:ext cx="6080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Gained comprehensive knowledge of the KHMS tool landscape by attending team mock sessions.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20040" y="3840480"/>
            <a:ext cx="85039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381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320040" y="3840480"/>
            <a:ext cx="2103120" cy="1051560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594360" y="4096512"/>
            <a:ext cx="530352" cy="5303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594360" y="409651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234440" y="3950208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C3AED"/>
                </a:solidFill>
              </a:rPr>
              <a:t>KHMS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7C3AED"/>
                </a:solidFill>
              </a:rPr>
              <a:t>Improvisation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423160" y="3977640"/>
            <a:ext cx="27432" cy="77724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2578608" y="3913632"/>
            <a:ext cx="6080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</a:rPr>
              <a:t>Applying Tech Directly For KHMS and improvising process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2578608" y="4270248"/>
            <a:ext cx="6080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Translated KHMS learning into tangible outputs — from building the HC Power App to standardising SIPOCs — demonstrating hands-on operational excellence and continuous improvement.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E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1200000">
            <a:off x="5029200" y="-1371600"/>
            <a:ext cx="6400800" cy="4114800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02920" y="25603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CFBF1"/>
                </a:solidFill>
              </a:rPr>
              <a:t>MONTHLY SUMMARY  ·  APRIL 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5486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What I Delivered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5943600" y="274320"/>
            <a:ext cx="1005840" cy="1005840"/>
          </a:xfrm>
          <a:prstGeom prst="ellipse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943600" y="27432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9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943600" y="89611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CCFBF1"/>
                </a:solidFill>
              </a:rPr>
              <a:t>TASKS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7132320" y="274320"/>
            <a:ext cx="1005840" cy="1005840"/>
          </a:xfrm>
          <a:prstGeom prst="ellipse">
            <a:avLst/>
          </a:prstGeom>
          <a:solidFill>
            <a:srgbClr val="2563EB">
              <a:alpha val="80000"/>
            </a:srgbClr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132320" y="27432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3/3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132320" y="89611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CCFBF1"/>
                </a:solidFill>
              </a:rPr>
              <a:t>KPIs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8321040" y="274320"/>
            <a:ext cx="1005840" cy="1005840"/>
          </a:xfrm>
          <a:prstGeom prst="ellipse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321040" y="27432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✓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321040" y="89611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CCFBF1"/>
                </a:solidFill>
              </a:rPr>
              <a:t>LINKEDIN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02920" y="1417320"/>
            <a:ext cx="41148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11480" y="1600200"/>
            <a:ext cx="8366760" cy="82296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11480" y="1600200"/>
            <a:ext cx="1143000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11480" y="1600200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KPI 1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691640" y="1801368"/>
            <a:ext cx="6903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CFBF1"/>
                </a:solidFill>
              </a:rPr>
              <a:t>Power BI coordination  ·  HC data consolidation across towers &amp; pillars  ·  HC Validation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11480" y="2606040"/>
            <a:ext cx="8366760" cy="82296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11480" y="2606040"/>
            <a:ext cx="1143000" cy="822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11480" y="2606040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KPI 2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691640" y="2807208"/>
            <a:ext cx="6903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CFBF1"/>
                </a:solidFill>
              </a:rPr>
              <a:t>Power App (HC wizard)  ·  SharePoint backend &amp; data migration  ·  SIPOC standardization and audit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11480" y="3611880"/>
            <a:ext cx="8366760" cy="82296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11480" y="3611880"/>
            <a:ext cx="1143000" cy="822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11480" y="3611880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KPI 3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691640" y="3813048"/>
            <a:ext cx="6903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CFBF1"/>
                </a:solidFill>
              </a:rPr>
              <a:t>LinkedIn Learning courses  ·  End-to-end knowledge of Tools in KHMS ·  Tech + operational excellence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E3C"/>
                </a:solidFill>
              </a:rPr>
              <a:t>Presented to: Gupta, Anand  ·  GBS ·  KHMS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1283</TotalTime>
  <Words>583</Words>
  <Application>Microsoft Office PowerPoint</Application>
  <PresentationFormat>On-screen Show (16:9)</PresentationFormat>
  <Paragraphs>107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Trivedi, Vedang</cp:lastModifiedBy>
  <cp:revision>5</cp:revision>
  <dcterms:created xsi:type="dcterms:W3CDTF">2026-05-06T06:37:27Z</dcterms:created>
  <dcterms:modified xsi:type="dcterms:W3CDTF">2026-05-13T06:25:24Z</dcterms:modified>
</cp:coreProperties>
</file>