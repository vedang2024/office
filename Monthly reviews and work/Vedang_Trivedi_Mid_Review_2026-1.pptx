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4F4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DFE44B-7F15-4AE5-9E9C-6E9176A49F76}" v="4" dt="2026-05-20T11:00:12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7" d="100"/>
          <a:sy n="147" d="100"/>
        </p:scale>
        <p:origin x="219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ivedi, Vedang" userId="d7ee25a5-f45d-4198-8364-7be52932307b" providerId="ADAL" clId="{A618D050-3FB8-4B5C-A91B-031587FF3BCF}"/>
    <pc:docChg chg="undo custSel addSld modSld">
      <pc:chgData name="Trivedi, Vedang" userId="d7ee25a5-f45d-4198-8364-7be52932307b" providerId="ADAL" clId="{A618D050-3FB8-4B5C-A91B-031587FF3BCF}" dt="2026-05-21T07:50:55.917" v="139" actId="113"/>
      <pc:docMkLst>
        <pc:docMk/>
      </pc:docMkLst>
      <pc:sldChg chg="addSp delSp modSp mod">
        <pc:chgData name="Trivedi, Vedang" userId="d7ee25a5-f45d-4198-8364-7be52932307b" providerId="ADAL" clId="{A618D050-3FB8-4B5C-A91B-031587FF3BCF}" dt="2026-05-21T07:50:55.917" v="139" actId="113"/>
        <pc:sldMkLst>
          <pc:docMk/>
          <pc:sldMk cId="0" sldId="256"/>
        </pc:sldMkLst>
        <pc:spChg chg="mod">
          <ac:chgData name="Trivedi, Vedang" userId="d7ee25a5-f45d-4198-8364-7be52932307b" providerId="ADAL" clId="{A618D050-3FB8-4B5C-A91B-031587FF3BCF}" dt="2026-05-20T10:57:50.537" v="11" actId="1076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Trivedi, Vedang" userId="d7ee25a5-f45d-4198-8364-7be52932307b" providerId="ADAL" clId="{A618D050-3FB8-4B5C-A91B-031587FF3BCF}" dt="2026-05-21T07:30:49.642" v="12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17:49.327" v="117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44:50.411" v="126" actId="1076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1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5:52.938" v="78" actId="255"/>
          <ac:spMkLst>
            <pc:docMk/>
            <pc:sldMk cId="0" sldId="256"/>
            <ac:spMk id="11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13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14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15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5:04.393" v="128" actId="21"/>
          <ac:spMkLst>
            <pc:docMk/>
            <pc:sldMk cId="0" sldId="256"/>
            <ac:spMk id="16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1:33.141" v="48" actId="14100"/>
          <ac:spMkLst>
            <pc:docMk/>
            <pc:sldMk cId="0" sldId="256"/>
            <ac:spMk id="21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23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25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27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28" creationId="{00000000-0000-0000-0000-000000000000}"/>
          </ac:spMkLst>
        </pc:spChg>
        <pc:spChg chg="add del">
          <ac:chgData name="Trivedi, Vedang" userId="d7ee25a5-f45d-4198-8364-7be52932307b" providerId="ADAL" clId="{A618D050-3FB8-4B5C-A91B-031587FF3BCF}" dt="2026-05-21T07:47:03.518" v="130" actId="21"/>
          <ac:spMkLst>
            <pc:docMk/>
            <pc:sldMk cId="0" sldId="256"/>
            <ac:spMk id="3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5:26.263" v="77" actId="20577"/>
          <ac:spMkLst>
            <pc:docMk/>
            <pc:sldMk cId="0" sldId="256"/>
            <ac:spMk id="31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0:47.983" v="35" actId="255"/>
          <ac:spMkLst>
            <pc:docMk/>
            <pc:sldMk cId="0" sldId="256"/>
            <ac:spMk id="35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4:47.605" v="67" actId="20577"/>
          <ac:spMkLst>
            <pc:docMk/>
            <pc:sldMk cId="0" sldId="256"/>
            <ac:spMk id="36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1:11.430" v="46" actId="20577"/>
          <ac:spMkLst>
            <pc:docMk/>
            <pc:sldMk cId="0" sldId="256"/>
            <ac:spMk id="38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18:20.790" v="120" actId="120"/>
          <ac:spMkLst>
            <pc:docMk/>
            <pc:sldMk cId="0" sldId="256"/>
            <ac:spMk id="55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3:44.328" v="61" actId="14100"/>
          <ac:spMkLst>
            <pc:docMk/>
            <pc:sldMk cId="0" sldId="256"/>
            <ac:spMk id="56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2:18.567" v="50" actId="242"/>
          <ac:spMkLst>
            <pc:docMk/>
            <pc:sldMk cId="0" sldId="256"/>
            <ac:spMk id="59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2:31.051" v="51" actId="242"/>
          <ac:spMkLst>
            <pc:docMk/>
            <pc:sldMk cId="0" sldId="256"/>
            <ac:spMk id="62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2:36.859" v="52" actId="242"/>
          <ac:spMkLst>
            <pc:docMk/>
            <pc:sldMk cId="0" sldId="256"/>
            <ac:spMk id="65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2:41.949" v="53" actId="242"/>
          <ac:spMkLst>
            <pc:docMk/>
            <pc:sldMk cId="0" sldId="256"/>
            <ac:spMk id="68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1:03:12.290" v="55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50:55.917" v="139" actId="113"/>
          <ac:spMkLst>
            <pc:docMk/>
            <pc:sldMk cId="0" sldId="256"/>
            <ac:spMk id="7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50:47.704" v="138" actId="208"/>
          <ac:spMkLst>
            <pc:docMk/>
            <pc:sldMk cId="0" sldId="256"/>
            <ac:spMk id="72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50:55.917" v="139" actId="113"/>
          <ac:spMkLst>
            <pc:docMk/>
            <pc:sldMk cId="0" sldId="256"/>
            <ac:spMk id="74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50:47.704" v="138" actId="208"/>
          <ac:spMkLst>
            <pc:docMk/>
            <pc:sldMk cId="0" sldId="256"/>
            <ac:spMk id="76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50:55.917" v="139" actId="113"/>
          <ac:spMkLst>
            <pc:docMk/>
            <pc:sldMk cId="0" sldId="256"/>
            <ac:spMk id="78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22.861" v="114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6:56:29.634" v="81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1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2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49:21.010" v="135" actId="14100"/>
          <ac:spMkLst>
            <pc:docMk/>
            <pc:sldMk cId="0" sldId="256"/>
            <ac:spMk id="83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4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5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48:52.972" v="132" actId="242"/>
          <ac:spMkLst>
            <pc:docMk/>
            <pc:sldMk cId="0" sldId="256"/>
            <ac:spMk id="86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7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88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48:52.972" v="132" actId="242"/>
          <ac:spMkLst>
            <pc:docMk/>
            <pc:sldMk cId="0" sldId="256"/>
            <ac:spMk id="89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1T07:05:13.325" v="113" actId="1035"/>
          <ac:spMkLst>
            <pc:docMk/>
            <pc:sldMk cId="0" sldId="256"/>
            <ac:spMk id="90" creationId="{00000000-0000-0000-0000-000000000000}"/>
          </ac:spMkLst>
        </pc:spChg>
        <pc:spChg chg="mod">
          <ac:chgData name="Trivedi, Vedang" userId="d7ee25a5-f45d-4198-8364-7be52932307b" providerId="ADAL" clId="{A618D050-3FB8-4B5C-A91B-031587FF3BCF}" dt="2026-05-20T10:58:15.704" v="15" actId="207"/>
          <ac:spMkLst>
            <pc:docMk/>
            <pc:sldMk cId="0" sldId="256"/>
            <ac:spMk id="93" creationId="{AD9AC6E4-B992-D8FF-7B2E-BDFB21910327}"/>
          </ac:spMkLst>
        </pc:spChg>
        <pc:spChg chg="add del mod ord">
          <ac:chgData name="Trivedi, Vedang" userId="d7ee25a5-f45d-4198-8364-7be52932307b" providerId="ADAL" clId="{A618D050-3FB8-4B5C-A91B-031587FF3BCF}" dt="2026-05-20T10:59:45.837" v="27" actId="21"/>
          <ac:spMkLst>
            <pc:docMk/>
            <pc:sldMk cId="0" sldId="256"/>
            <ac:spMk id="94" creationId="{63D3211F-3904-4589-357A-16B67723E7D9}"/>
          </ac:spMkLst>
        </pc:spChg>
        <pc:spChg chg="add del mod">
          <ac:chgData name="Trivedi, Vedang" userId="d7ee25a5-f45d-4198-8364-7be52932307b" providerId="ADAL" clId="{A618D050-3FB8-4B5C-A91B-031587FF3BCF}" dt="2026-05-20T10:59:52.240" v="29" actId="21"/>
          <ac:spMkLst>
            <pc:docMk/>
            <pc:sldMk cId="0" sldId="256"/>
            <ac:spMk id="95" creationId="{63D3211F-3904-4589-357A-16B67723E7D9}"/>
          </ac:spMkLst>
        </pc:spChg>
        <pc:spChg chg="mod">
          <ac:chgData name="Trivedi, Vedang" userId="d7ee25a5-f45d-4198-8364-7be52932307b" providerId="ADAL" clId="{A618D050-3FB8-4B5C-A91B-031587FF3BCF}" dt="2026-05-20T10:59:50.277" v="28"/>
          <ac:spMkLst>
            <pc:docMk/>
            <pc:sldMk cId="0" sldId="256"/>
            <ac:spMk id="98" creationId="{AD9AC6E4-B992-D8FF-7B2E-BDFB21910327}"/>
          </ac:spMkLst>
        </pc:spChg>
        <pc:spChg chg="add mod">
          <ac:chgData name="Trivedi, Vedang" userId="d7ee25a5-f45d-4198-8364-7be52932307b" providerId="ADAL" clId="{A618D050-3FB8-4B5C-A91B-031587FF3BCF}" dt="2026-05-21T07:29:30.052" v="121" actId="1076"/>
          <ac:spMkLst>
            <pc:docMk/>
            <pc:sldMk cId="0" sldId="256"/>
            <ac:spMk id="99" creationId="{AA621B3A-B512-51E2-FEA5-D66F95F3A3D6}"/>
          </ac:spMkLst>
        </pc:spChg>
        <pc:spChg chg="mod">
          <ac:chgData name="Trivedi, Vedang" userId="d7ee25a5-f45d-4198-8364-7be52932307b" providerId="ADAL" clId="{A618D050-3FB8-4B5C-A91B-031587FF3BCF}" dt="2026-05-20T11:00:12.084" v="30"/>
          <ac:spMkLst>
            <pc:docMk/>
            <pc:sldMk cId="0" sldId="256"/>
            <ac:spMk id="102" creationId="{CC9B1BE0-219C-F734-18AA-6E5303741C55}"/>
          </ac:spMkLst>
        </pc:spChg>
        <pc:grpChg chg="add del mod">
          <ac:chgData name="Trivedi, Vedang" userId="d7ee25a5-f45d-4198-8364-7be52932307b" providerId="ADAL" clId="{A618D050-3FB8-4B5C-A91B-031587FF3BCF}" dt="2026-05-20T10:59:45.837" v="27" actId="21"/>
          <ac:grpSpMkLst>
            <pc:docMk/>
            <pc:sldMk cId="0" sldId="256"/>
            <ac:grpSpMk id="91" creationId="{1A177AE7-A17D-77B3-5D5E-8FE5C7052A80}"/>
          </ac:grpSpMkLst>
        </pc:grpChg>
        <pc:grpChg chg="add del mod">
          <ac:chgData name="Trivedi, Vedang" userId="d7ee25a5-f45d-4198-8364-7be52932307b" providerId="ADAL" clId="{A618D050-3FB8-4B5C-A91B-031587FF3BCF}" dt="2026-05-20T10:59:52.240" v="29" actId="21"/>
          <ac:grpSpMkLst>
            <pc:docMk/>
            <pc:sldMk cId="0" sldId="256"/>
            <ac:grpSpMk id="96" creationId="{1A177AE7-A17D-77B3-5D5E-8FE5C7052A80}"/>
          </ac:grpSpMkLst>
        </pc:grpChg>
        <pc:grpChg chg="add mod">
          <ac:chgData name="Trivedi, Vedang" userId="d7ee25a5-f45d-4198-8364-7be52932307b" providerId="ADAL" clId="{A618D050-3FB8-4B5C-A91B-031587FF3BCF}" dt="2026-05-20T11:00:30.745" v="33" actId="1076"/>
          <ac:grpSpMkLst>
            <pc:docMk/>
            <pc:sldMk cId="0" sldId="256"/>
            <ac:grpSpMk id="100" creationId="{BAB2070C-0362-05FF-CEBE-A3DE84F26E6B}"/>
          </ac:grpSpMkLst>
        </pc:grpChg>
        <pc:picChg chg="mod">
          <ac:chgData name="Trivedi, Vedang" userId="d7ee25a5-f45d-4198-8364-7be52932307b" providerId="ADAL" clId="{A618D050-3FB8-4B5C-A91B-031587FF3BCF}" dt="2026-05-20T10:58:15.704" v="15" actId="207"/>
          <ac:picMkLst>
            <pc:docMk/>
            <pc:sldMk cId="0" sldId="256"/>
            <ac:picMk id="92" creationId="{526CFAA5-C4AD-A232-0CD5-9CCFBAB0F827}"/>
          </ac:picMkLst>
        </pc:picChg>
        <pc:picChg chg="mod">
          <ac:chgData name="Trivedi, Vedang" userId="d7ee25a5-f45d-4198-8364-7be52932307b" providerId="ADAL" clId="{A618D050-3FB8-4B5C-A91B-031587FF3BCF}" dt="2026-05-20T10:59:50.277" v="28"/>
          <ac:picMkLst>
            <pc:docMk/>
            <pc:sldMk cId="0" sldId="256"/>
            <ac:picMk id="97" creationId="{526CFAA5-C4AD-A232-0CD5-9CCFBAB0F827}"/>
          </ac:picMkLst>
        </pc:picChg>
        <pc:picChg chg="mod">
          <ac:chgData name="Trivedi, Vedang" userId="d7ee25a5-f45d-4198-8364-7be52932307b" providerId="ADAL" clId="{A618D050-3FB8-4B5C-A91B-031587FF3BCF}" dt="2026-05-20T11:00:12.084" v="30"/>
          <ac:picMkLst>
            <pc:docMk/>
            <pc:sldMk cId="0" sldId="256"/>
            <ac:picMk id="101" creationId="{E025591F-1F8F-04DB-3B23-793F6052CBF3}"/>
          </ac:picMkLst>
        </pc:picChg>
      </pc:sldChg>
      <pc:sldChg chg="addSp modSp new mod">
        <pc:chgData name="Trivedi, Vedang" userId="d7ee25a5-f45d-4198-8364-7be52932307b" providerId="ADAL" clId="{A618D050-3FB8-4B5C-A91B-031587FF3BCF}" dt="2026-05-20T10:30:20.620" v="6" actId="14100"/>
        <pc:sldMkLst>
          <pc:docMk/>
          <pc:sldMk cId="2109861719" sldId="257"/>
        </pc:sldMkLst>
        <pc:picChg chg="add mod">
          <ac:chgData name="Trivedi, Vedang" userId="d7ee25a5-f45d-4198-8364-7be52932307b" providerId="ADAL" clId="{A618D050-3FB8-4B5C-A91B-031587FF3BCF}" dt="2026-05-20T10:30:20.620" v="6" actId="14100"/>
          <ac:picMkLst>
            <pc:docMk/>
            <pc:sldMk cId="2109861719" sldId="257"/>
            <ac:picMk id="3" creationId="{81007FD1-1031-C08E-03E9-E647674C2D7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AFAB-3C5F-4B79-9A56-8A881677A610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00689E-3D9C-4E17-AB11-194AFC74FC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16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00689E-3D9C-4E17-AB11-194AFC74FC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928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172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88952" cy="36576"/>
          </a:xfrm>
          <a:prstGeom prst="rect">
            <a:avLst/>
          </a:prstGeom>
          <a:solidFill>
            <a:srgbClr val="0EA5E9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2026 KH GCC Internship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5720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0EA5E9"/>
                </a:solidFill>
              </a:rPr>
              <a:t>Vedang Trivedi  ·  GBS – KHMS Digital Automation &amp; Operational Excellence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600403" y="1618488"/>
            <a:ext cx="2377440" cy="530352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 dirty="0">
                <a:solidFill>
                  <a:srgbClr val="FFFFFF"/>
                </a:solidFill>
              </a:rPr>
              <a:t>MID-TERM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859536"/>
            <a:ext cx="7818120" cy="246888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950" b="1" dirty="0">
                <a:solidFill>
                  <a:schemeClr val="bg1"/>
                </a:solidFill>
              </a:rPr>
              <a:t>YOUR IMPACT TO YOUR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896112"/>
            <a:ext cx="37490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i="1" dirty="0">
                <a:solidFill>
                  <a:srgbClr val="0284C7"/>
                </a:solidFill>
              </a:rPr>
              <a:t>KHMS Digital Automation &amp; Operational Excellence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" y="1133856"/>
            <a:ext cx="3794760" cy="3090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109728" y="1133856"/>
            <a:ext cx="3794760" cy="246888"/>
          </a:xfrm>
          <a:prstGeom prst="rect">
            <a:avLst/>
          </a:prstGeom>
          <a:solidFill>
            <a:srgbClr val="0284C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 dirty="0">
                <a:solidFill>
                  <a:srgbClr val="FFFFFF"/>
                </a:solidFill>
              </a:rPr>
              <a:t>📊  BAU Activities  (KPI 1 &amp;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" y="1380744"/>
            <a:ext cx="379476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1" dirty="0">
                <a:solidFill>
                  <a:srgbClr val="0284C7"/>
                </a:solidFill>
              </a:rPr>
              <a:t>HEALTH CHECK TIMELINESS &amp; COVERAGE                                                KPI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604772"/>
            <a:ext cx="3685032" cy="292608"/>
          </a:xfrm>
          <a:prstGeom prst="rect">
            <a:avLst/>
          </a:prstGeom>
          <a:solidFill>
            <a:srgbClr val="F0FDFA"/>
          </a:solidFill>
          <a:ln w="508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0284C7"/>
                </a:solidFill>
              </a:rPr>
              <a:t>● Monthly Consolidation: </a:t>
            </a:r>
            <a:r>
              <a:rPr sz="800">
                <a:solidFill>
                  <a:srgbClr val="1E293B"/>
                </a:solidFill>
              </a:rPr>
              <a:t>Unified multi-tower health check evaluations within tight timelines.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1920240"/>
            <a:ext cx="3685032" cy="292608"/>
          </a:xfrm>
          <a:prstGeom prst="rect">
            <a:avLst/>
          </a:prstGeom>
          <a:solidFill>
            <a:srgbClr val="F0FDFA"/>
          </a:solidFill>
          <a:ln w="508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800" b="1" dirty="0">
                <a:solidFill>
                  <a:srgbClr val="0284C7"/>
                </a:solidFill>
              </a:rPr>
              <a:t>● Stakeholder Loop: </a:t>
            </a:r>
            <a:r>
              <a:rPr sz="800" dirty="0">
                <a:solidFill>
                  <a:srgbClr val="1E293B"/>
                </a:solidFill>
              </a:rPr>
              <a:t>Deployed active milestone check reminder arrays directly to stakeholders.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" y="2235708"/>
            <a:ext cx="3685032" cy="292608"/>
          </a:xfrm>
          <a:prstGeom prst="rect">
            <a:avLst/>
          </a:prstGeom>
          <a:solidFill>
            <a:srgbClr val="F0FDFA"/>
          </a:solidFill>
          <a:ln w="508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0284C7"/>
                </a:solidFill>
              </a:rPr>
              <a:t>● Trend Analytics: </a:t>
            </a:r>
            <a:r>
              <a:rPr sz="800">
                <a:solidFill>
                  <a:srgbClr val="1E293B"/>
                </a:solidFill>
              </a:rPr>
              <a:t>Generated run-rate average trackers mapping operational blind spots.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" y="2551176"/>
            <a:ext cx="3685032" cy="292608"/>
          </a:xfrm>
          <a:prstGeom prst="rect">
            <a:avLst/>
          </a:prstGeom>
          <a:solidFill>
            <a:srgbClr val="F0FDFA"/>
          </a:solidFill>
          <a:ln w="508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</a:pPr>
            <a:r>
              <a:rPr sz="800" b="1">
                <a:solidFill>
                  <a:srgbClr val="0284C7"/>
                </a:solidFill>
              </a:rPr>
              <a:t>● Data Alignment: </a:t>
            </a:r>
            <a:r>
              <a:rPr sz="800">
                <a:solidFill>
                  <a:srgbClr val="1E293B"/>
                </a:solidFill>
              </a:rPr>
              <a:t>Synced with visualization engineering leads to calibrate live metrics sheets.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" y="2871216"/>
            <a:ext cx="3794760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750" b="1">
                <a:solidFill>
                  <a:srgbClr val="4F46E5"/>
                </a:solidFill>
              </a:rPr>
              <a:t>LEARNING &amp; OPERATIONAL EXCELLENCE                                                  KPI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3099816"/>
            <a:ext cx="1815084" cy="429768"/>
          </a:xfrm>
          <a:prstGeom prst="rect">
            <a:avLst/>
          </a:prstGeom>
          <a:solidFill>
            <a:srgbClr val="F0FDFA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1E293B"/>
                </a:solidFill>
              </a:rPr>
              <a:t>🟢 Mavim Core</a:t>
            </a:r>
          </a:p>
          <a:p>
            <a:r>
              <a:rPr sz="750">
                <a:solidFill>
                  <a:srgbClr val="64748B"/>
                </a:solidFill>
              </a:rPr>
              <a:t>Mapped operational STP tree structures to master architecture frameworks.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4540" y="3099816"/>
            <a:ext cx="1815084" cy="429768"/>
          </a:xfrm>
          <a:prstGeom prst="rect">
            <a:avLst/>
          </a:prstGeom>
          <a:solidFill>
            <a:srgbClr val="EFF6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1E293B"/>
                </a:solidFill>
              </a:rPr>
              <a:t>🔵 Power Apps</a:t>
            </a:r>
          </a:p>
          <a:p>
            <a:r>
              <a:rPr sz="750">
                <a:solidFill>
                  <a:srgbClr val="64748B"/>
                </a:solidFill>
              </a:rPr>
              <a:t>Acquired validation for complex canvas environment layouts.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" y="3557016"/>
            <a:ext cx="1815084" cy="429768"/>
          </a:xfrm>
          <a:prstGeom prst="rect">
            <a:avLst/>
          </a:prstGeom>
          <a:solidFill>
            <a:srgbClr val="F5F3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1E293B"/>
                </a:solidFill>
              </a:rPr>
              <a:t>🟣 Power BI Track</a:t>
            </a:r>
          </a:p>
          <a:p>
            <a:r>
              <a:rPr sz="750">
                <a:solidFill>
                  <a:srgbClr val="64748B"/>
                </a:solidFill>
              </a:rPr>
              <a:t>Studied relational data schema preparation protocols.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34540" y="3557016"/>
            <a:ext cx="1815084" cy="429768"/>
          </a:xfrm>
          <a:prstGeom prst="rect">
            <a:avLst/>
          </a:prstGeom>
          <a:solidFill>
            <a:srgbClr val="ECFDF5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800" b="1">
                <a:solidFill>
                  <a:srgbClr val="1E293B"/>
                </a:solidFill>
              </a:rPr>
              <a:t>🟢 KHMS Context</a:t>
            </a:r>
          </a:p>
          <a:p>
            <a:r>
              <a:rPr sz="750">
                <a:solidFill>
                  <a:srgbClr val="64748B"/>
                </a:solidFill>
              </a:rPr>
              <a:t>Converted multi-tower mock review models directly to active deliverables.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95928" y="1133856"/>
            <a:ext cx="3822191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95928" y="1133856"/>
            <a:ext cx="3822191" cy="246888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 dirty="0">
                <a:solidFill>
                  <a:srgbClr val="FFFFFF"/>
                </a:solidFill>
              </a:rPr>
              <a:t>🛠️  Projects  (KPI 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95928" y="1380744"/>
            <a:ext cx="3822191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750" b="1">
                <a:solidFill>
                  <a:srgbClr val="4F46E5"/>
                </a:solidFill>
              </a:rPr>
              <a:t>SHAREPOINT AUTOMATION &amp; ELIMINATION                                              KPI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50792" y="1618488"/>
            <a:ext cx="3712463" cy="1115568"/>
          </a:xfrm>
          <a:prstGeom prst="rect">
            <a:avLst/>
          </a:prstGeom>
          <a:solidFill>
            <a:srgbClr val="F5F3FF"/>
          </a:solidFill>
          <a:ln w="5080"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087368" y="1645920"/>
            <a:ext cx="749808" cy="237744"/>
          </a:xfrm>
          <a:prstGeom prst="rect">
            <a:avLst/>
          </a:prstGeom>
          <a:solidFill>
            <a:srgbClr val="F43F5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FRONT-END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752" y="1645920"/>
            <a:ext cx="28529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</a:rPr>
              <a:t>GBS HC 2026 Power App: Wizard navigation schema driving live data entry captures.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87368" y="1993392"/>
            <a:ext cx="749808" cy="237744"/>
          </a:xfrm>
          <a:prstGeom prst="rect">
            <a:avLst/>
          </a:prstGeom>
          <a:solidFill>
            <a:srgbClr val="0284C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752" y="1993392"/>
            <a:ext cx="28529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dirty="0">
                <a:solidFill>
                  <a:srgbClr val="1E293B"/>
                </a:solidFill>
              </a:rPr>
              <a:t>Microsoft Entra ID: Active user matching system completely stripping out entry lookups.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87368" y="2340864"/>
            <a:ext cx="749808" cy="237744"/>
          </a:xfrm>
          <a:prstGeom prst="rect">
            <a:avLst/>
          </a:prstGeom>
          <a:solidFill>
            <a:srgbClr val="F59E0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00" b="1" dirty="0">
                <a:solidFill>
                  <a:srgbClr val="FFFFFF"/>
                </a:solidFill>
              </a:rPr>
              <a:t>DATA NODE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73752" y="2340864"/>
            <a:ext cx="2852927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E293B"/>
                </a:solidFill>
              </a:rPr>
              <a:t>SharePoint Lists: Relational reference tables serving as single production source.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95928" y="2770632"/>
            <a:ext cx="3822191" cy="20116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750" b="1" dirty="0">
                <a:solidFill>
                  <a:srgbClr val="4F46E5"/>
                </a:solidFill>
              </a:rPr>
              <a:t>PROCESS TRANSFORMATION METRICS          </a:t>
            </a:r>
            <a:r>
              <a:rPr lang="en-IN" sz="750" b="1" dirty="0">
                <a:solidFill>
                  <a:srgbClr val="4F46E5"/>
                </a:solidFill>
              </a:rPr>
              <a:t>      </a:t>
            </a:r>
            <a:r>
              <a:rPr sz="750" b="1" dirty="0">
                <a:solidFill>
                  <a:srgbClr val="4F46E5"/>
                </a:solidFill>
              </a:rPr>
              <a:t>SYSTEM OPTIMIZATION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50792" y="3008376"/>
            <a:ext cx="1828799" cy="786384"/>
          </a:xfrm>
          <a:prstGeom prst="rect">
            <a:avLst/>
          </a:prstGeom>
          <a:solidFill>
            <a:srgbClr val="FEF2F2"/>
          </a:solidFill>
          <a:ln w="63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91B1B"/>
                </a:solidFill>
              </a:rPr>
              <a:t>✗  MANUAL FRAMEWORK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Isolated team records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Manual identity trace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Ad-hoc tracking errors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34455" y="3008376"/>
            <a:ext cx="1828799" cy="786384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65F46"/>
                </a:solidFill>
              </a:rPr>
              <a:t>✓  AUTOMATED HORIZON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Central cloud databases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Live identity parsing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E293B"/>
                </a:solidFill>
              </a:rPr>
              <a:t>• Integrated data guards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859536"/>
            <a:ext cx="4069080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01000" y="859536"/>
            <a:ext cx="4069080" cy="246888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900" b="1" dirty="0">
                <a:solidFill>
                  <a:srgbClr val="FFFFFF"/>
                </a:solidFill>
              </a:rPr>
              <a:t>🎯  PURPOSE: HOW DOES YOUR CAREER VISION ALIGN WITH YOUR PURPOSE?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1133856"/>
            <a:ext cx="3886200" cy="90281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1" dirty="0">
                <a:solidFill>
                  <a:srgbClr val="0284C7"/>
                </a:solidFill>
              </a:rPr>
              <a:t>Core System Strategy: </a:t>
            </a:r>
            <a:r>
              <a:rPr sz="850" b="0" dirty="0">
                <a:solidFill>
                  <a:srgbClr val="1E293B"/>
                </a:solidFill>
              </a:rPr>
              <a:t>Linking practical software development disciplines with large-scale operations to generate low-code applications that eliminate manual overhead.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sz="850" b="0" dirty="0">
              <a:solidFill>
                <a:srgbClr val="1E293B"/>
              </a:solidFill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850" b="1" dirty="0">
                <a:solidFill>
                  <a:srgbClr val="10B981"/>
                </a:solidFill>
              </a:rPr>
              <a:t>The Academic Practicum: </a:t>
            </a:r>
            <a:r>
              <a:rPr sz="850" b="0" dirty="0">
                <a:solidFill>
                  <a:srgbClr val="1E293B"/>
                </a:solidFill>
              </a:rPr>
              <a:t>Direct sandbox application where my ICT </a:t>
            </a:r>
            <a:r>
              <a:rPr sz="850" b="0" dirty="0" err="1">
                <a:solidFill>
                  <a:srgbClr val="1E293B"/>
                </a:solidFill>
              </a:rPr>
              <a:t>M.Tech</a:t>
            </a:r>
            <a:r>
              <a:rPr sz="850" b="0" dirty="0">
                <a:solidFill>
                  <a:srgbClr val="1E293B"/>
                </a:solidFill>
              </a:rPr>
              <a:t> skillset transforms data processing chains into live metrics models.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2414016"/>
            <a:ext cx="4069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001000" y="2414016"/>
            <a:ext cx="4069080" cy="246888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lang="en-IN" sz="1000" b="1" dirty="0">
                <a:solidFill>
                  <a:srgbClr val="FFFFFF"/>
                </a:solidFill>
              </a:rPr>
              <a:t>💪  </a:t>
            </a:r>
            <a:r>
              <a:rPr sz="1000" b="1" dirty="0">
                <a:solidFill>
                  <a:srgbClr val="FFFFFF"/>
                </a:solidFill>
              </a:rPr>
              <a:t>STRENGTHS: HOW DOES YOUR VISION LEVERAGE YOUR STRENGTHS?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55864" y="2688336"/>
            <a:ext cx="395935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55864" y="2688336"/>
            <a:ext cx="36576" cy="347472"/>
          </a:xfrm>
          <a:prstGeom prst="rect">
            <a:avLst/>
          </a:prstGeom>
          <a:solidFill>
            <a:srgbClr val="0284C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19872" y="2724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Engineering Mindset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2724912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Constructed app infrastructure logic frames entirely from a baseline blank canvas state.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5864" y="3072384"/>
            <a:ext cx="395935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8055864" y="3072384"/>
            <a:ext cx="36576" cy="347472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19872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Operational Agility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62872" y="3108960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dirty="0">
                <a:solidFill>
                  <a:srgbClr val="1E293B"/>
                </a:solidFill>
              </a:rPr>
              <a:t>Rapidly balanced and learned unfamiliar system sets (Mavim flows, cloud lookup schemas) inside single sprints.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5864" y="3456432"/>
            <a:ext cx="395935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055864" y="3456432"/>
            <a:ext cx="36576" cy="347472"/>
          </a:xfrm>
          <a:prstGeom prst="rect">
            <a:avLst/>
          </a:prstGeom>
          <a:solidFill>
            <a:srgbClr val="F43F5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19872" y="3493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Systems Synthesis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62872" y="349300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Infused clean database practices into complex legacy operational document structures.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55864" y="3840480"/>
            <a:ext cx="3959352" cy="347472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055864" y="3840480"/>
            <a:ext cx="36576" cy="347472"/>
          </a:xfrm>
          <a:prstGeom prst="rect">
            <a:avLst/>
          </a:prstGeom>
          <a:solidFill>
            <a:srgbClr val="F59E0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9872" y="387705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E293B"/>
                </a:solidFill>
              </a:rPr>
              <a:t>Team Synergy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62872" y="3877056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solidFill>
                  <a:srgbClr val="1E293B"/>
                </a:solidFill>
              </a:rPr>
              <a:t>Maintained consistent collaboration loops with cross-functional tracking heads to verify pipeline integrity.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9728" y="4313154"/>
            <a:ext cx="7818120" cy="267990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950" b="1" dirty="0">
                <a:solidFill>
                  <a:schemeClr val="bg1"/>
                </a:solidFill>
              </a:rPr>
              <a:t>YOUR IMPACT TO YOUR FUNCTIONAL PROJECT – PROGRESS DETAILS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9728" y="4581144"/>
            <a:ext cx="7818120" cy="167968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64592" y="4626864"/>
            <a:ext cx="1899666" cy="82296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64592" y="4626864"/>
            <a:ext cx="1899666" cy="36576"/>
          </a:xfrm>
          <a:prstGeom prst="rect">
            <a:avLst/>
          </a:prstGeom>
          <a:solidFill>
            <a:srgbClr val="0284C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19456" y="4413309"/>
            <a:ext cx="1789938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1.  Problem Statement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Health check data lived in fragmented sheets, driving structural errors, data extraction friction, and late submission flags.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119122" y="4626864"/>
            <a:ext cx="1899666" cy="82296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119122" y="4626864"/>
            <a:ext cx="1899666" cy="36576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173986" y="4413309"/>
            <a:ext cx="1789938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2.  What I Built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Constructed a unified, wizard-based canvas system connected to custom database architectures across 37 unique validation checks.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73652" y="4626864"/>
            <a:ext cx="1899666" cy="82296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4073652" y="4626864"/>
            <a:ext cx="1899666" cy="36576"/>
          </a:xfrm>
          <a:prstGeom prst="rect">
            <a:avLst/>
          </a:prstGeom>
          <a:solidFill>
            <a:srgbClr val="F43F5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128516" y="4413309"/>
            <a:ext cx="1789938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3.  How It Works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Pairs cloud records with instant filters, automatic stage trackers, and functional parameter logic blocks right at entry.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28182" y="4626864"/>
            <a:ext cx="1899666" cy="822960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028182" y="4626864"/>
            <a:ext cx="1899666" cy="36576"/>
          </a:xfrm>
          <a:prstGeom prst="rect">
            <a:avLst/>
          </a:prstGeom>
          <a:solidFill>
            <a:srgbClr val="10B98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083046" y="4413309"/>
            <a:ext cx="1789938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4.  Impact &amp; 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Eliminated broken record generation paths; route live entries straight to reporting channels for executive visibility. 3/3 KPIs achieved.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1168" y="5584170"/>
            <a:ext cx="7708392" cy="420624"/>
          </a:xfrm>
          <a:prstGeom prst="rect">
            <a:avLst/>
          </a:prstGeom>
          <a:solidFill>
            <a:srgbClr val="F1F5F9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37744" y="5663301"/>
            <a:ext cx="1298448" cy="256032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dirty="0">
                <a:solidFill>
                  <a:schemeClr val="bg1"/>
                </a:solidFill>
              </a:rPr>
              <a:t>Operations User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536192" y="561441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dirty="0">
                <a:solidFill>
                  <a:srgbClr val="0284C7"/>
                </a:solidFill>
              </a:rPr>
              <a:t>&gt;&gt;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28800" y="5663301"/>
            <a:ext cx="1298448" cy="256032"/>
          </a:xfrm>
          <a:prstGeom prst="rect">
            <a:avLst/>
          </a:prstGeom>
          <a:solidFill>
            <a:srgbClr val="0F172A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GBS HC 2026 Interface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27248" y="561441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</a:rPr>
              <a:t>&gt;&gt;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419856" y="5663301"/>
            <a:ext cx="1298448" cy="256032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>
                <a:solidFill>
                  <a:schemeClr val="bg1"/>
                </a:solidFill>
              </a:rPr>
              <a:t>SharePoint Repository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18304" y="561441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</a:rPr>
              <a:t>&gt;&gt;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10912" y="5663301"/>
            <a:ext cx="1298448" cy="256032"/>
          </a:xfrm>
          <a:prstGeom prst="rect">
            <a:avLst/>
          </a:prstGeom>
          <a:solidFill>
            <a:srgbClr val="0F172A"/>
          </a:solidFill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Power BI Datasets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5614416"/>
            <a:ext cx="292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284C7"/>
                </a:solidFill>
              </a:rPr>
              <a:t>&gt;&gt;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01968" y="5663301"/>
            <a:ext cx="1298448" cy="256032"/>
          </a:xfrm>
          <a:prstGeom prst="rect">
            <a:avLst/>
          </a:prstGeom>
          <a:solidFill>
            <a:srgbClr val="0F172A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 b="1" dirty="0">
                <a:solidFill>
                  <a:schemeClr val="bg1"/>
                </a:solidFill>
              </a:rPr>
              <a:t>Executive Dashboard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094599" y="4386415"/>
            <a:ext cx="3950208" cy="236829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8039735" y="4313154"/>
            <a:ext cx="3950208" cy="246888"/>
          </a:xfrm>
          <a:prstGeom prst="rect">
            <a:avLst/>
          </a:prstGeom>
          <a:solidFill>
            <a:srgbClr val="4F46E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000" b="1" dirty="0">
                <a:solidFill>
                  <a:srgbClr val="FFFFFF"/>
                </a:solidFill>
              </a:rPr>
              <a:t>🤝  ALIGNING TO KH: HOW DOES YOUR VISION ALIGN WITH KRAFT HEINZ.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074152" y="4739095"/>
            <a:ext cx="12618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100598" y="4649627"/>
            <a:ext cx="1261872" cy="36576"/>
          </a:xfrm>
          <a:prstGeom prst="rect">
            <a:avLst/>
          </a:prstGeom>
          <a:solidFill>
            <a:srgbClr val="0284C7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119872" y="4436265"/>
            <a:ext cx="1409084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Agility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Delivered consistent outputs across new environments, demonstrating an active Growth Mindset.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90888" y="4649627"/>
            <a:ext cx="12618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390888" y="4649627"/>
            <a:ext cx="1261872" cy="36576"/>
          </a:xfrm>
          <a:prstGeom prst="rect">
            <a:avLst/>
          </a:prstGeom>
          <a:solidFill>
            <a:srgbClr val="F43F5E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427464" y="4280624"/>
            <a:ext cx="1188720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User Focus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 err="1">
                <a:solidFill>
                  <a:srgbClr val="64748B"/>
                </a:solidFill>
              </a:rPr>
              <a:t>Optimised</a:t>
            </a:r>
            <a:r>
              <a:rPr sz="800" b="0" i="0" dirty="0">
                <a:solidFill>
                  <a:srgbClr val="64748B"/>
                </a:solidFill>
              </a:rPr>
              <a:t> UX elements for operations teams to eliminate logging fatigue.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707624" y="4649627"/>
            <a:ext cx="126187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707624" y="4649627"/>
            <a:ext cx="1261872" cy="36576"/>
          </a:xfrm>
          <a:prstGeom prst="rect">
            <a:avLst/>
          </a:prstGeom>
          <a:solidFill>
            <a:srgbClr val="F59E0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744200" y="4280624"/>
            <a:ext cx="1188720" cy="101822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i="0" dirty="0">
                <a:solidFill>
                  <a:srgbClr val="1E293B"/>
                </a:solidFill>
              </a:rPr>
              <a:t>Op Excellence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64748B"/>
                </a:solidFill>
              </a:rPr>
              <a:t>Secured data pathways to enforce corporate governance across 5-Pillar operations.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092440" y="5362859"/>
            <a:ext cx="38039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850" b="0" i="0" dirty="0">
                <a:solidFill>
                  <a:srgbClr val="1E293B"/>
                </a:solidFill>
              </a:rPr>
              <a:t>My career vision directly mirrors KH's Growth Mindset — continuous upskilling, rapid platform adoption, and delivery of measurable outcomes across GBS operations.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1E293B"/>
                </a:solidFill>
              </a:rPr>
              <a:t>By building automation tools that eliminate operational friction, I embody the KH principle of consumer-centric agility applied to internal stakeholders.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A621B3A-B512-51E2-FEA5-D66F95F3A3D6}"/>
              </a:ext>
            </a:extLst>
          </p:cNvPr>
          <p:cNvSpPr>
            <a:spLocks/>
          </p:cNvSpPr>
          <p:nvPr/>
        </p:nvSpPr>
        <p:spPr>
          <a:xfrm>
            <a:off x="11386566" y="68580"/>
            <a:ext cx="640080" cy="640080"/>
          </a:xfrm>
          <a:prstGeom prst="ellipse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AB2070C-0362-05FF-CEBE-A3DE84F26E6B}"/>
              </a:ext>
            </a:extLst>
          </p:cNvPr>
          <p:cNvGrpSpPr>
            <a:grpSpLocks noChangeAspect="1"/>
          </p:cNvGrpSpPr>
          <p:nvPr/>
        </p:nvGrpSpPr>
        <p:grpSpPr>
          <a:xfrm>
            <a:off x="11468302" y="152986"/>
            <a:ext cx="403745" cy="502920"/>
            <a:chOff x="608456" y="116950"/>
            <a:chExt cx="812103" cy="1011586"/>
          </a:xfrm>
          <a:solidFill>
            <a:srgbClr val="FFFF00"/>
          </a:solidFill>
        </p:grpSpPr>
        <p:pic>
          <p:nvPicPr>
            <p:cNvPr id="101" name="Graphic 100" descr="Highway scene with solid fill">
              <a:extLst>
                <a:ext uri="{FF2B5EF4-FFF2-40B4-BE49-F238E27FC236}">
                  <a16:creationId xmlns:a16="http://schemas.microsoft.com/office/drawing/2014/main" id="{E025591F-1F8F-04DB-3B23-793F6052CB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7084" y="266284"/>
              <a:ext cx="518610" cy="518610"/>
            </a:xfrm>
            <a:prstGeom prst="rect">
              <a:avLst/>
            </a:prstGeom>
          </p:spPr>
        </p:pic>
        <p:sp>
          <p:nvSpPr>
            <p:cNvPr id="102" name="Freeform 12">
              <a:extLst>
                <a:ext uri="{FF2B5EF4-FFF2-40B4-BE49-F238E27FC236}">
                  <a16:creationId xmlns:a16="http://schemas.microsoft.com/office/drawing/2014/main" id="{CC9B1BE0-219C-F734-18AA-6E5303741C55}"/>
                </a:ext>
              </a:extLst>
            </p:cNvPr>
            <p:cNvSpPr>
              <a:spLocks/>
            </p:cNvSpPr>
            <p:nvPr/>
          </p:nvSpPr>
          <p:spPr>
            <a:xfrm>
              <a:off x="608456" y="116950"/>
              <a:ext cx="812103" cy="1011586"/>
            </a:xfrm>
            <a:custGeom>
              <a:avLst/>
              <a:gdLst>
                <a:gd name="connsiteX0" fmla="*/ 2150483 w 2150469"/>
                <a:gd name="connsiteY0" fmla="*/ 366112 h 2678704"/>
                <a:gd name="connsiteX1" fmla="*/ 1923683 w 2150469"/>
                <a:gd name="connsiteY1" fmla="*/ 592915 h 2678704"/>
                <a:gd name="connsiteX2" fmla="*/ 594592 w 2150469"/>
                <a:gd name="connsiteY2" fmla="*/ 596274 h 2678704"/>
                <a:gd name="connsiteX3" fmla="*/ 597970 w 2150469"/>
                <a:gd name="connsiteY3" fmla="*/ 1918636 h 2678704"/>
                <a:gd name="connsiteX4" fmla="*/ 965165 w 2150469"/>
                <a:gd name="connsiteY4" fmla="*/ 2143354 h 2678704"/>
                <a:gd name="connsiteX5" fmla="*/ 951511 w 2150469"/>
                <a:gd name="connsiteY5" fmla="*/ 1949950 h 2678704"/>
                <a:gd name="connsiteX6" fmla="*/ 1337984 w 2150469"/>
                <a:gd name="connsiteY6" fmla="*/ 2348509 h 2678704"/>
                <a:gd name="connsiteX7" fmla="*/ 1002950 w 2150469"/>
                <a:gd name="connsiteY7" fmla="*/ 2678417 h 2678704"/>
                <a:gd name="connsiteX8" fmla="*/ 989086 w 2150469"/>
                <a:gd name="connsiteY8" fmla="*/ 2482044 h 2678704"/>
                <a:gd name="connsiteX9" fmla="*/ 29922 w 2150469"/>
                <a:gd name="connsiteY9" fmla="*/ 985051 h 2678704"/>
                <a:gd name="connsiteX10" fmla="*/ 1532576 w 2150469"/>
                <a:gd name="connsiteY10" fmla="*/ 29506 h 2678704"/>
                <a:gd name="connsiteX11" fmla="*/ 2150483 w 2150469"/>
                <a:gd name="connsiteY11" fmla="*/ 366112 h 2678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50469" h="2678704">
                  <a:moveTo>
                    <a:pt x="2150483" y="366112"/>
                  </a:moveTo>
                  <a:lnTo>
                    <a:pt x="1923683" y="592915"/>
                  </a:lnTo>
                  <a:cubicBezTo>
                    <a:pt x="1555736" y="228676"/>
                    <a:pt x="960684" y="230179"/>
                    <a:pt x="594592" y="596274"/>
                  </a:cubicBezTo>
                  <a:cubicBezTo>
                    <a:pt x="228510" y="962358"/>
                    <a:pt x="230023" y="1554407"/>
                    <a:pt x="597970" y="1918636"/>
                  </a:cubicBezTo>
                  <a:cubicBezTo>
                    <a:pt x="701218" y="2020838"/>
                    <a:pt x="826921" y="2097767"/>
                    <a:pt x="965165" y="2143354"/>
                  </a:cubicBezTo>
                  <a:lnTo>
                    <a:pt x="951511" y="1949950"/>
                  </a:lnTo>
                  <a:lnTo>
                    <a:pt x="1337984" y="2348509"/>
                  </a:lnTo>
                  <a:lnTo>
                    <a:pt x="1002950" y="2678417"/>
                  </a:lnTo>
                  <a:lnTo>
                    <a:pt x="989086" y="2482044"/>
                  </a:lnTo>
                  <a:cubicBezTo>
                    <a:pt x="309274" y="2332534"/>
                    <a:pt x="-120159" y="1662308"/>
                    <a:pt x="29922" y="985051"/>
                  </a:cubicBezTo>
                  <a:cubicBezTo>
                    <a:pt x="180003" y="307804"/>
                    <a:pt x="852764" y="-120005"/>
                    <a:pt x="1532576" y="29506"/>
                  </a:cubicBezTo>
                  <a:cubicBezTo>
                    <a:pt x="1766465" y="80945"/>
                    <a:pt x="1980792" y="197704"/>
                    <a:pt x="2150483" y="366112"/>
                  </a:cubicBezTo>
                  <a:close/>
                </a:path>
              </a:pathLst>
            </a:custGeom>
            <a:grpFill/>
            <a:ln w="1902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B1B1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007FD1-1031-C08E-03E9-E647674C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5306"/>
            <a:ext cx="12188825" cy="681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86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605</Words>
  <Application>Microsoft Office PowerPoint</Application>
  <PresentationFormat>Custom</PresentationFormat>
  <Paragraphs>88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Trivedi, Vedang</cp:lastModifiedBy>
  <cp:revision>1</cp:revision>
  <dcterms:created xsi:type="dcterms:W3CDTF">2013-01-27T09:14:16Z</dcterms:created>
  <dcterms:modified xsi:type="dcterms:W3CDTF">2026-05-21T07:50:56Z</dcterms:modified>
  <cp:category/>
</cp:coreProperties>
</file>