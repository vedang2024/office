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Gilda Display" charset="1" panose="02000000000000000000"/>
      <p:regular r:id="rId21"/>
    </p:embeddedFont>
    <p:embeddedFont>
      <p:font typeface="HK Grotesk Light" charset="1" panose="00000400000000000000"/>
      <p:regular r:id="rId22"/>
    </p:embeddedFont>
    <p:embeddedFont>
      <p:font typeface="HK Grotesk Bold" charset="1" panose="000008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11225" y="6787402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1509220" y="1442185"/>
            <a:ext cx="16112030" cy="2705702"/>
            <a:chOff x="0" y="0"/>
            <a:chExt cx="21482706" cy="3607603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2492393"/>
              <a:ext cx="21482706" cy="11152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023"/>
                </a:lnSpc>
              </a:pPr>
              <a:r>
                <a:rPr lang="en-US" sz="6023">
                  <a:solidFill>
                    <a:srgbClr val="204A87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GBS Kraft Heinz Management System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071668"/>
              <a:ext cx="21482706" cy="9340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880"/>
                </a:lnSpc>
              </a:pPr>
              <a:r>
                <a:rPr lang="en-US" sz="4200">
                  <a:solidFill>
                    <a:srgbClr val="326295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Overview of KHMS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-47625"/>
              <a:ext cx="21482706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</a:pPr>
              <a:r>
                <a:rPr lang="en-US" sz="2199">
                  <a:solidFill>
                    <a:srgbClr val="204A8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09 Feb 2026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15477" y="525797"/>
            <a:ext cx="12929223" cy="8667816"/>
            <a:chOff x="0" y="0"/>
            <a:chExt cx="17238964" cy="11557088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71450"/>
              <a:ext cx="17238964" cy="1612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204A87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Background &amp; Objectives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984588"/>
              <a:ext cx="16852900" cy="8572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204A8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The Vision: Achieve an efficient GBS operation by empowering people and removing operational barriers.</a:t>
              </a:r>
            </a:p>
            <a:p>
              <a:pPr algn="l" marL="0" indent="0" lvl="0">
                <a:lnSpc>
                  <a:spcPts val="3900"/>
                </a:lnSpc>
              </a:pPr>
            </a:p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204A8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Standardization: Unify operations across 8 workstreams (Order Management, Trade to Cash, Hire to Retire, etc.) and multiple global locations.</a:t>
              </a:r>
            </a:p>
            <a:p>
              <a:pPr algn="l" marL="0" indent="0" lvl="0">
                <a:lnSpc>
                  <a:spcPts val="3900"/>
                </a:lnSpc>
              </a:pPr>
            </a:p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204A8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Performance: Optimize operations, reduce waste, and enhance productivity to make performance less dependent on "tribal knowledge".</a:t>
              </a:r>
            </a:p>
            <a:p>
              <a:pPr algn="l" marL="0" indent="0" lvl="0">
                <a:lnSpc>
                  <a:spcPts val="3900"/>
                </a:lnSpc>
              </a:pPr>
            </a:p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204A8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Culture: Embed a mindset of continuous improvement and capability building through hands-on coaching.</a:t>
              </a:r>
            </a:p>
            <a:p>
              <a:pPr algn="l" marL="0" indent="0" lvl="0">
                <a:lnSpc>
                  <a:spcPts val="3900"/>
                </a:lnSpc>
              </a:pPr>
            </a:p>
            <a:p>
              <a:pPr algn="l" marL="0" indent="0" lvl="0">
                <a:lnSpc>
                  <a:spcPts val="3900"/>
                </a:lnSpc>
              </a:pP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086063"/>
              <a:ext cx="17238964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b="true" sz="3000">
                  <a:solidFill>
                    <a:srgbClr val="326295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Key Goals of the KHMS Initiative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1268288">
            <a:off x="14795639" y="5873497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55158" y="600597"/>
            <a:ext cx="16294278" cy="9662264"/>
            <a:chOff x="0" y="0"/>
            <a:chExt cx="21725704" cy="12883019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2912105"/>
              <a:ext cx="21725704" cy="99709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39"/>
                </a:lnSpc>
              </a:pPr>
            </a:p>
            <a:p>
              <a:pPr algn="l" marL="0" indent="0" lvl="0">
                <a:lnSpc>
                  <a:spcPts val="4539"/>
                </a:lnSpc>
              </a:pPr>
              <a:r>
                <a:rPr lang="en-US" sz="3491">
                  <a:solidFill>
                    <a:srgbClr val="204A8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KHMS uses a kitchen analogy to explain its transformation process:</a:t>
              </a:r>
            </a:p>
            <a:p>
              <a:pPr algn="l" marL="0" indent="0" lvl="0">
                <a:lnSpc>
                  <a:spcPts val="4539"/>
                </a:lnSpc>
              </a:pPr>
              <a:r>
                <a:rPr lang="en-US" sz="3491">
                  <a:solidFill>
                    <a:srgbClr val="204A8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The Kitchen: GBS is the kitchen preparing "delicious meals" for Kraft Heinz.</a:t>
              </a:r>
            </a:p>
            <a:p>
              <a:pPr algn="l" marL="0" indent="0" lvl="0">
                <a:lnSpc>
                  <a:spcPts val="4539"/>
                </a:lnSpc>
              </a:pPr>
            </a:p>
            <a:p>
              <a:pPr algn="l" marL="0" indent="0" lvl="0">
                <a:lnSpc>
                  <a:spcPts val="4539"/>
                </a:lnSpc>
              </a:pPr>
              <a:r>
                <a:rPr lang="en-US" sz="3491">
                  <a:solidFill>
                    <a:srgbClr val="204A8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Ingredients: Operational Excellence knowledge, standard processes, methods, and tools.</a:t>
              </a:r>
            </a:p>
            <a:p>
              <a:pPr algn="l" marL="0" indent="0" lvl="0">
                <a:lnSpc>
                  <a:spcPts val="4539"/>
                </a:lnSpc>
              </a:pPr>
            </a:p>
            <a:p>
              <a:pPr algn="l" marL="0" indent="0" lvl="0">
                <a:lnSpc>
                  <a:spcPts val="4539"/>
                </a:lnSpc>
              </a:pPr>
              <a:r>
                <a:rPr lang="en-US" sz="3491">
                  <a:solidFill>
                    <a:srgbClr val="204A8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Recipes: Step-by-step descriptions of processes with clear expectations and roles.</a:t>
              </a:r>
            </a:p>
            <a:p>
              <a:pPr algn="l" marL="0" indent="0" lvl="0">
                <a:lnSpc>
                  <a:spcPts val="4539"/>
                </a:lnSpc>
              </a:pPr>
            </a:p>
            <a:p>
              <a:pPr algn="l" marL="0" indent="0" lvl="0">
                <a:lnSpc>
                  <a:spcPts val="4539"/>
                </a:lnSpc>
              </a:pPr>
              <a:r>
                <a:rPr lang="en-US" sz="3491">
                  <a:solidFill>
                    <a:srgbClr val="204A8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Cookbook: The final handbook containing all recipes and procedures created during implementation.</a:t>
              </a:r>
            </a:p>
            <a:p>
              <a:pPr algn="l" marL="0" indent="0" lvl="0">
                <a:lnSpc>
                  <a:spcPts val="4539"/>
                </a:lnSpc>
              </a:pPr>
            </a:p>
            <a:p>
              <a:pPr algn="l" marL="0" indent="0" lvl="0">
                <a:lnSpc>
                  <a:spcPts val="4539"/>
                </a:lnSpc>
              </a:pP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14300"/>
              <a:ext cx="9605006" cy="21880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196"/>
                </a:lnSpc>
              </a:pPr>
              <a:r>
                <a:rPr lang="en-US" sz="6196">
                  <a:solidFill>
                    <a:srgbClr val="204A87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The Kitchen Concept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437773">
            <a:off x="13770320" y="-6241286"/>
            <a:ext cx="12640239" cy="11904807"/>
          </a:xfrm>
          <a:custGeom>
            <a:avLst/>
            <a:gdLst/>
            <a:ahLst/>
            <a:cxnLst/>
            <a:rect r="r" b="b" t="t" l="l"/>
            <a:pathLst>
              <a:path h="11904807" w="12640239">
                <a:moveTo>
                  <a:pt x="0" y="0"/>
                </a:moveTo>
                <a:lnTo>
                  <a:pt x="12640239" y="0"/>
                </a:lnTo>
                <a:lnTo>
                  <a:pt x="12640239" y="11904806"/>
                </a:lnTo>
                <a:lnTo>
                  <a:pt x="0" y="11904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4077950" cy="2062247"/>
            <a:chOff x="0" y="0"/>
            <a:chExt cx="18770600" cy="2749662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71450"/>
              <a:ext cx="18770600" cy="1612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204A87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The 6 Pillars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130537"/>
              <a:ext cx="187706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326295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Foundational Framework of KHMS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66750" y="5143500"/>
            <a:ext cx="5448300" cy="3602831"/>
            <a:chOff x="0" y="0"/>
            <a:chExt cx="7264400" cy="4803775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9525"/>
              <a:ext cx="72644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326295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People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165225"/>
              <a:ext cx="7264400" cy="3638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56"/>
                </a:lnSpc>
              </a:pPr>
              <a:r>
                <a:rPr lang="en-US" sz="2812" strike="noStrike" u="none">
                  <a:solidFill>
                    <a:srgbClr val="000000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Leadership enablement and effective organizational design are critical for ensuring a motivated workforce that can drive operational excellence across the entire organization.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419850" y="5143500"/>
            <a:ext cx="5448300" cy="3602831"/>
            <a:chOff x="0" y="0"/>
            <a:chExt cx="7264400" cy="4803775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9525"/>
              <a:ext cx="72644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trike="noStrike" u="none">
                  <a:solidFill>
                    <a:srgbClr val="326295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Strategy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165225"/>
              <a:ext cx="7264400" cy="3638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56"/>
                </a:lnSpc>
              </a:pPr>
              <a:r>
                <a:rPr lang="en-US" sz="2812" strike="noStrike" u="none">
                  <a:solidFill>
                    <a:srgbClr val="000000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Implementing strategic scorecards and 90-day plans helps align business objectives and track progress, ensuring the organization stays focused on its goals and priorities.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172950" y="5143500"/>
            <a:ext cx="5448300" cy="3602831"/>
            <a:chOff x="0" y="0"/>
            <a:chExt cx="7264400" cy="4803775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9525"/>
              <a:ext cx="72644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trike="noStrike" u="none">
                  <a:solidFill>
                    <a:srgbClr val="326295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Transformation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165225"/>
              <a:ext cx="7264400" cy="3638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56"/>
                </a:lnSpc>
              </a:pPr>
              <a:r>
                <a:rPr lang="en-US" sz="2812" strike="noStrike" u="none">
                  <a:solidFill>
                    <a:srgbClr val="000000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Agile project management methodologies like Agile and Prince2 are essential for effective portfolio management, enabling teams to adapt quickly to changes and drive continuous improvement.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93444" y="0"/>
            <a:ext cx="12251256" cy="10244187"/>
            <a:chOff x="0" y="0"/>
            <a:chExt cx="16335008" cy="1365891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52400"/>
              <a:ext cx="16335008" cy="15767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529"/>
                </a:lnSpc>
              </a:pPr>
              <a:r>
                <a:rPr lang="en-US" sz="8529">
                  <a:solidFill>
                    <a:srgbClr val="204A87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KHMS Light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150162"/>
              <a:ext cx="16335008" cy="105087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58"/>
                </a:lnSpc>
              </a:pPr>
              <a:r>
                <a:rPr lang="en-US" sz="3198">
                  <a:solidFill>
                    <a:srgbClr val="204A8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GBS</a:t>
              </a:r>
              <a:r>
                <a:rPr lang="en-US" sz="3198">
                  <a:solidFill>
                    <a:srgbClr val="204A8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KHMS "Light" Version</a:t>
              </a:r>
            </a:p>
            <a:p>
              <a:pPr algn="l" marL="0" indent="0" lvl="0">
                <a:lnSpc>
                  <a:spcPts val="4158"/>
                </a:lnSpc>
              </a:pPr>
            </a:p>
            <a:p>
              <a:pPr algn="l" marL="0" indent="0" lvl="0">
                <a:lnSpc>
                  <a:spcPts val="4158"/>
                </a:lnSpc>
              </a:pPr>
              <a:r>
                <a:rPr lang="en-US" sz="3198">
                  <a:solidFill>
                    <a:srgbClr val="204A8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 faster-to-deploy, simplified version focusing on core components that drive the largest operational improvements:</a:t>
              </a:r>
            </a:p>
            <a:p>
              <a:pPr algn="l" marL="0" indent="0" lvl="0">
                <a:lnSpc>
                  <a:spcPts val="4158"/>
                </a:lnSpc>
              </a:pPr>
            </a:p>
            <a:p>
              <a:pPr algn="l" marL="0" indent="0" lvl="0">
                <a:lnSpc>
                  <a:spcPts val="4158"/>
                </a:lnSpc>
              </a:pPr>
              <a:r>
                <a:rPr lang="en-US" sz="3198">
                  <a:solidFill>
                    <a:srgbClr val="204A8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Purpose: Designed for rapid implementation in specific towers like Procurement and Commercial.</a:t>
              </a:r>
            </a:p>
            <a:p>
              <a:pPr algn="l" marL="0" indent="0" lvl="0">
                <a:lnSpc>
                  <a:spcPts val="4158"/>
                </a:lnSpc>
              </a:pPr>
            </a:p>
            <a:p>
              <a:pPr algn="l" marL="0" indent="0" lvl="0">
                <a:lnSpc>
                  <a:spcPts val="4158"/>
                </a:lnSpc>
              </a:pPr>
              <a:r>
                <a:rPr lang="en-US" sz="3198">
                  <a:solidFill>
                    <a:srgbClr val="204A8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Merge with Digital: Integrates physical tools (KHMS Light) with digital enablers (KHMS Digital).</a:t>
              </a:r>
            </a:p>
            <a:p>
              <a:pPr algn="l" marL="0" indent="0" lvl="0">
                <a:lnSpc>
                  <a:spcPts val="4158"/>
                </a:lnSpc>
              </a:pPr>
            </a:p>
            <a:p>
              <a:pPr algn="l" marL="0" indent="0" lvl="0">
                <a:lnSpc>
                  <a:spcPts val="4158"/>
                </a:lnSpc>
              </a:pPr>
              <a:r>
                <a:rPr lang="en-US" sz="3198">
                  <a:solidFill>
                    <a:srgbClr val="204A8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Scope: Focuses on high-impact tools such as RACI, SIPOC, Scorecards, and "Drumbeat" reviews.</a:t>
              </a:r>
            </a:p>
            <a:p>
              <a:pPr algn="l" marL="0" indent="0" lvl="0">
                <a:lnSpc>
                  <a:spcPts val="4158"/>
                </a:lnSpc>
              </a:pPr>
            </a:p>
            <a:p>
              <a:pPr algn="l" marL="0" indent="0" lvl="0">
                <a:lnSpc>
                  <a:spcPts val="4158"/>
                </a:lnSpc>
              </a:pP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031190"/>
              <a:ext cx="16335008" cy="5908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89"/>
                </a:lnSpc>
              </a:pPr>
              <a:r>
                <a:rPr lang="en-US" b="true" sz="2907">
                  <a:solidFill>
                    <a:srgbClr val="326295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Streamlined Approach for Key Functions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1268288">
            <a:off x="14795639" y="5873497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437773">
            <a:off x="13770320" y="-6241286"/>
            <a:ext cx="12640239" cy="11904807"/>
          </a:xfrm>
          <a:custGeom>
            <a:avLst/>
            <a:gdLst/>
            <a:ahLst/>
            <a:cxnLst/>
            <a:rect r="r" b="b" t="t" l="l"/>
            <a:pathLst>
              <a:path h="11904807" w="12640239">
                <a:moveTo>
                  <a:pt x="0" y="0"/>
                </a:moveTo>
                <a:lnTo>
                  <a:pt x="12640239" y="0"/>
                </a:lnTo>
                <a:lnTo>
                  <a:pt x="12640239" y="11904806"/>
                </a:lnTo>
                <a:lnTo>
                  <a:pt x="0" y="11904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4077950" cy="2062247"/>
            <a:chOff x="0" y="0"/>
            <a:chExt cx="18770600" cy="2749662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71450"/>
              <a:ext cx="18770600" cy="1612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204A87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Core Tools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130537"/>
              <a:ext cx="187706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326295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Key elements for operational excellence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66750" y="5143500"/>
            <a:ext cx="5448300" cy="3772614"/>
            <a:chOff x="0" y="0"/>
            <a:chExt cx="7264400" cy="5030153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9525"/>
              <a:ext cx="72644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326295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Health Check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155700"/>
              <a:ext cx="7264400" cy="38744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26"/>
                </a:lnSpc>
              </a:pPr>
              <a:r>
                <a:rPr lang="en-US" sz="2943" strike="noStrike" u="none">
                  <a:solidFill>
                    <a:srgbClr val="000000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The Health Check tool identifies maturity gaps within teams, focusing on areas for improvement to enhance overall operational efficiency and effectiveness in service delivery.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419850" y="5143500"/>
            <a:ext cx="5448300" cy="3772614"/>
            <a:chOff x="0" y="0"/>
            <a:chExt cx="7264400" cy="5030153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9525"/>
              <a:ext cx="72644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trike="noStrike" u="none">
                  <a:solidFill>
                    <a:srgbClr val="326295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RACI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155700"/>
              <a:ext cx="7264400" cy="38744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26"/>
                </a:lnSpc>
              </a:pPr>
              <a:r>
                <a:rPr lang="en-US" sz="2943" strike="noStrike" u="none">
                  <a:solidFill>
                    <a:srgbClr val="000000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The RACI matrix clarifies roles and responsibilities, ensuring team ownership and alignment on tasks, which facilitates effective collaboration and accountability across the organization.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172950" y="5143500"/>
            <a:ext cx="5448300" cy="3772614"/>
            <a:chOff x="0" y="0"/>
            <a:chExt cx="7264400" cy="5030153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9525"/>
              <a:ext cx="72644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trike="noStrike" u="none">
                  <a:solidFill>
                    <a:srgbClr val="326295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Back-up Matrix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155700"/>
              <a:ext cx="7264400" cy="38744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26"/>
                </a:lnSpc>
              </a:pPr>
              <a:r>
                <a:rPr lang="en-US" sz="2943" strike="noStrike" u="none">
                  <a:solidFill>
                    <a:srgbClr val="000000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The Back-up Matrix ensures business continuity by mapping critical functions and identifying personnel capable of supporting essential tasks, thus mitigating risks in operational disruptions.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437773">
            <a:off x="13770320" y="-6241286"/>
            <a:ext cx="12640239" cy="11904807"/>
          </a:xfrm>
          <a:custGeom>
            <a:avLst/>
            <a:gdLst/>
            <a:ahLst/>
            <a:cxnLst/>
            <a:rect r="r" b="b" t="t" l="l"/>
            <a:pathLst>
              <a:path h="11904807" w="12640239">
                <a:moveTo>
                  <a:pt x="0" y="0"/>
                </a:moveTo>
                <a:lnTo>
                  <a:pt x="12640239" y="0"/>
                </a:lnTo>
                <a:lnTo>
                  <a:pt x="12640239" y="11904806"/>
                </a:lnTo>
                <a:lnTo>
                  <a:pt x="0" y="11904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4077950" cy="2062247"/>
            <a:chOff x="0" y="0"/>
            <a:chExt cx="18770600" cy="2749662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71450"/>
              <a:ext cx="18770600" cy="1612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204A87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Core Tools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130537"/>
              <a:ext cx="187706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326295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Essential Elements of KHMS Implementation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66750" y="5143500"/>
            <a:ext cx="5448300" cy="4060031"/>
            <a:chOff x="0" y="0"/>
            <a:chExt cx="7264400" cy="5413375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9525"/>
              <a:ext cx="72644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326295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SIPOC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165225"/>
              <a:ext cx="7264400" cy="4248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56"/>
                </a:lnSpc>
              </a:pPr>
              <a:r>
                <a:rPr lang="en-US" sz="2812" strike="noStrike" u="none">
                  <a:solidFill>
                    <a:srgbClr val="000000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SIPOC provides a high-level overview of processes, defining Suppliers, Inputs, Processes, Outputs, and Customers, ensuring alignment and clarity among stakeholders for effective execution.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419850" y="5143500"/>
            <a:ext cx="5448300" cy="4060031"/>
            <a:chOff x="0" y="0"/>
            <a:chExt cx="7264400" cy="5413375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9525"/>
              <a:ext cx="72644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trike="noStrike" u="none">
                  <a:solidFill>
                    <a:srgbClr val="326295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5S &amp; SOP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165225"/>
              <a:ext cx="7264400" cy="4248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56"/>
                </a:lnSpc>
              </a:pPr>
              <a:r>
                <a:rPr lang="en-US" sz="2812" strike="noStrike" u="none">
                  <a:solidFill>
                    <a:srgbClr val="000000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Implementing 5S promotes workplace organization and efficiency, while Standard Operating Procedures (SOP) document processes, ensuring consistency and quality across operations within the organization.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172950" y="5143500"/>
            <a:ext cx="5448300" cy="3602831"/>
            <a:chOff x="0" y="0"/>
            <a:chExt cx="7264400" cy="4803775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9525"/>
              <a:ext cx="72644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trike="noStrike" u="none">
                  <a:solidFill>
                    <a:srgbClr val="326295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Escalation Path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165225"/>
              <a:ext cx="7264400" cy="3638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56"/>
                </a:lnSpc>
              </a:pPr>
              <a:r>
                <a:rPr lang="en-US" sz="2812" strike="noStrike" u="none">
                  <a:solidFill>
                    <a:srgbClr val="000000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An established Escalation Path defines clear protocols for issue resolution, enabling swift actions and minimizing delays, ultimately ensuring business continuity and operational effectiveness.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838200"/>
            <a:ext cx="14077950" cy="1166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99"/>
              </a:lnSpc>
            </a:pPr>
            <a:r>
              <a:rPr lang="en-US" sz="8799">
                <a:solidFill>
                  <a:srgbClr val="204A87"/>
                </a:solidFill>
                <a:latin typeface="Gilda Display"/>
                <a:ea typeface="Gilda Display"/>
                <a:cs typeface="Gilda Display"/>
                <a:sym typeface="Gilda Display"/>
              </a:rPr>
              <a:t>Implementation Roadmap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3933825"/>
            <a:ext cx="14792293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326295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Weeks 1-2: Establish baseline Health Checks and finalize SIPOC.</a:t>
            </a:r>
          </a:p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666750" y="4848225"/>
            <a:ext cx="1691561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326295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Weeks 3-4: Launch scorecards and improve meeting effectiveness.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6750" y="5708947"/>
            <a:ext cx="1659255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326295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Weeks 5-6: Conduct reviews and establish escalation paths.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6750" y="6566197"/>
            <a:ext cx="1762125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326295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Weeks 7-12 (Sustainability): Completing the handbook, long-term review cycles, and customer dialogue</a:t>
            </a:r>
          </a:p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326295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management.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05025" y="30497"/>
            <a:ext cx="12639675" cy="9858408"/>
            <a:chOff x="0" y="0"/>
            <a:chExt cx="16852900" cy="1314454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71450"/>
              <a:ext cx="16852900" cy="1612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204A87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Deployment Logic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251244"/>
              <a:ext cx="16852900" cy="9893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204A8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For futur</a:t>
              </a:r>
              <a:r>
                <a:rPr lang="en-US" sz="3000">
                  <a:solidFill>
                    <a:srgbClr val="204A8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 rollouts, towers are selected based on a logic-based scoring model:</a:t>
              </a:r>
            </a:p>
            <a:p>
              <a:pPr algn="l" marL="0" indent="0" lvl="0">
                <a:lnSpc>
                  <a:spcPts val="3900"/>
                </a:lnSpc>
              </a:pPr>
            </a:p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204A8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Business Criticality (25%): Importance to business continuity and revenue.</a:t>
              </a:r>
            </a:p>
            <a:p>
              <a:pPr algn="l" marL="0" indent="0" lvl="0">
                <a:lnSpc>
                  <a:spcPts val="3900"/>
                </a:lnSpc>
              </a:pPr>
            </a:p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204A8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Audit Scores (25%): Level of audit exposure and control weaknesses.</a:t>
              </a:r>
            </a:p>
            <a:p>
              <a:pPr algn="l" marL="0" indent="0" lvl="0">
                <a:lnSpc>
                  <a:spcPts val="3900"/>
                </a:lnSpc>
              </a:pPr>
            </a:p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204A8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Workforce Size (15%): Larger teams requiring more structured management.</a:t>
              </a:r>
            </a:p>
            <a:p>
              <a:pPr algn="l" marL="0" indent="0" lvl="0">
                <a:lnSpc>
                  <a:spcPts val="3900"/>
                </a:lnSpc>
              </a:pPr>
            </a:p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204A8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Volume &amp; Complexity (15%): High-volume processes and process variants.</a:t>
              </a:r>
            </a:p>
            <a:p>
              <a:pPr algn="l" marL="0" indent="0" lvl="0">
                <a:lnSpc>
                  <a:spcPts val="3900"/>
                </a:lnSpc>
              </a:pPr>
            </a:p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204A8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Digital &amp; Leadership Readiness (20%): Engagement of leaders and accessibility to digital tools.</a:t>
              </a:r>
            </a:p>
            <a:p>
              <a:pPr algn="l" marL="0" indent="0" lvl="0">
                <a:lnSpc>
                  <a:spcPts val="3900"/>
                </a:lnSpc>
              </a:pPr>
            </a:p>
            <a:p>
              <a:pPr algn="l" marL="0" indent="0" lvl="0">
                <a:lnSpc>
                  <a:spcPts val="3900"/>
                </a:lnSpc>
              </a:pP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086063"/>
              <a:ext cx="168529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b="true" sz="3000">
                  <a:solidFill>
                    <a:srgbClr val="326295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Criteria for Strategic Tower Selection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1268288">
            <a:off x="14795639" y="5873497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05025" y="216234"/>
            <a:ext cx="12639675" cy="9486933"/>
            <a:chOff x="0" y="0"/>
            <a:chExt cx="16852900" cy="1264924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71450"/>
              <a:ext cx="16852900" cy="30983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204A87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Performance Management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4737144"/>
              <a:ext cx="16852900" cy="7912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204A8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 structured cad</a:t>
              </a:r>
              <a:r>
                <a:rPr lang="en-US" sz="3000">
                  <a:solidFill>
                    <a:srgbClr val="204A8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ence of reviews to maintain operational momentum:</a:t>
              </a:r>
            </a:p>
            <a:p>
              <a:pPr algn="l" marL="0" indent="0" lvl="0">
                <a:lnSpc>
                  <a:spcPts val="3900"/>
                </a:lnSpc>
              </a:pPr>
            </a:p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204A8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Day Start: Daily huddles for priorities and fast issue escalation.</a:t>
              </a:r>
            </a:p>
            <a:p>
              <a:pPr algn="l" marL="0" indent="0" lvl="0">
                <a:lnSpc>
                  <a:spcPts val="3900"/>
                </a:lnSpc>
              </a:pPr>
            </a:p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204A8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Weekly Review: Short-term operational tracking of deliverables and task updates.</a:t>
              </a:r>
            </a:p>
            <a:p>
              <a:pPr algn="l" marL="0" indent="0" lvl="0">
                <a:lnSpc>
                  <a:spcPts val="3900"/>
                </a:lnSpc>
              </a:pPr>
            </a:p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204A8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Monthly Review: Periodic check of key metrics and strategic initiatives.</a:t>
              </a:r>
            </a:p>
            <a:p>
              <a:pPr algn="l" marL="0" indent="0" lvl="0">
                <a:lnSpc>
                  <a:spcPts val="3900"/>
                </a:lnSpc>
              </a:pPr>
            </a:p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204A8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90-Day Review: Strategic quarterly check to ensure alignment with long-term goals.</a:t>
              </a:r>
            </a:p>
            <a:p>
              <a:pPr algn="l" marL="0" indent="0" lvl="0">
                <a:lnSpc>
                  <a:spcPts val="3900"/>
                </a:lnSpc>
              </a:pP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3571963"/>
              <a:ext cx="168529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b="true" sz="3000">
                  <a:solidFill>
                    <a:srgbClr val="326295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Establishing a Consistent Review Cadence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1268288">
            <a:off x="14795639" y="5873497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84719" y="1955230"/>
            <a:ext cx="16674581" cy="7618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12"/>
              </a:lnSpc>
            </a:pPr>
            <a:r>
              <a:rPr lang="en-US" sz="3548">
                <a:solidFill>
                  <a:srgbClr val="204A87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The new way of working is digitized through the IO App to act as a "kick-starter" for the day:</a:t>
            </a:r>
          </a:p>
          <a:p>
            <a:pPr algn="l" marL="0" indent="0" lvl="0">
              <a:lnSpc>
                <a:spcPts val="4612"/>
              </a:lnSpc>
            </a:pPr>
          </a:p>
          <a:p>
            <a:pPr algn="l" marL="0" indent="0" lvl="0">
              <a:lnSpc>
                <a:spcPts val="4612"/>
              </a:lnSpc>
            </a:pPr>
            <a:r>
              <a:rPr lang="en-US" sz="3548">
                <a:solidFill>
                  <a:srgbClr val="204A87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Performance: View real-time KPIs for teams or towers.</a:t>
            </a:r>
          </a:p>
          <a:p>
            <a:pPr algn="l" marL="0" indent="0" lvl="0">
              <a:lnSpc>
                <a:spcPts val="4612"/>
              </a:lnSpc>
            </a:pPr>
          </a:p>
          <a:p>
            <a:pPr algn="l" marL="0" indent="0" lvl="0">
              <a:lnSpc>
                <a:spcPts val="4612"/>
              </a:lnSpc>
            </a:pPr>
            <a:r>
              <a:rPr lang="en-US" sz="3548">
                <a:solidFill>
                  <a:srgbClr val="204A87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Accelerators: Access templates for investigations (IPA) or 90-day plans.</a:t>
            </a:r>
          </a:p>
          <a:p>
            <a:pPr algn="l" marL="0" indent="0" lvl="0">
              <a:lnSpc>
                <a:spcPts val="4612"/>
              </a:lnSpc>
            </a:pPr>
          </a:p>
          <a:p>
            <a:pPr algn="l" marL="0" indent="0" lvl="0">
              <a:lnSpc>
                <a:spcPts val="4612"/>
              </a:lnSpc>
            </a:pPr>
            <a:r>
              <a:rPr lang="en-US" sz="3548">
                <a:solidFill>
                  <a:srgbClr val="204A87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Meetings: Conduct structured meetings with integrated performance data.</a:t>
            </a:r>
          </a:p>
          <a:p>
            <a:pPr algn="l" marL="0" indent="0" lvl="0">
              <a:lnSpc>
                <a:spcPts val="4612"/>
              </a:lnSpc>
            </a:pPr>
          </a:p>
          <a:p>
            <a:pPr algn="l" marL="0" indent="0" lvl="0">
              <a:lnSpc>
                <a:spcPts val="4612"/>
              </a:lnSpc>
            </a:pPr>
            <a:r>
              <a:rPr lang="en-US" sz="3548">
                <a:solidFill>
                  <a:srgbClr val="204A87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Tasks: Link actions directly to KPI performance.</a:t>
            </a:r>
          </a:p>
          <a:p>
            <a:pPr algn="l" marL="0" indent="0" lvl="0">
              <a:lnSpc>
                <a:spcPts val="4612"/>
              </a:lnSpc>
            </a:pPr>
          </a:p>
          <a:p>
            <a:pPr algn="l" marL="0" indent="0" lvl="0">
              <a:lnSpc>
                <a:spcPts val="4612"/>
              </a:lnSpc>
            </a:pPr>
            <a:r>
              <a:rPr lang="en-US" sz="3548">
                <a:solidFill>
                  <a:srgbClr val="204A87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Blueprint: Standardize the way of working through organizational blueprints.</a:t>
            </a:r>
          </a:p>
          <a:p>
            <a:pPr algn="l" marL="0" indent="0" lvl="0">
              <a:lnSpc>
                <a:spcPts val="4612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538620" y="167349"/>
            <a:ext cx="16720680" cy="140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588"/>
              </a:lnSpc>
            </a:pPr>
            <a:r>
              <a:rPr lang="en-US" sz="10588">
                <a:solidFill>
                  <a:srgbClr val="204A87"/>
                </a:solidFill>
                <a:latin typeface="Gilda Display"/>
                <a:ea typeface="Gilda Display"/>
                <a:cs typeface="Gilda Display"/>
                <a:sym typeface="Gilda Display"/>
              </a:rPr>
              <a:t>Intelligent Operations App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05025" y="1021097"/>
            <a:ext cx="12639675" cy="7877208"/>
            <a:chOff x="0" y="0"/>
            <a:chExt cx="16852900" cy="1050294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71450"/>
              <a:ext cx="16852900" cy="1612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204A87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Impact &amp; Value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251244"/>
              <a:ext cx="16852900" cy="7251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204A8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The 12-week program generates benefits across three primary value drivers:</a:t>
              </a:r>
            </a:p>
            <a:p>
              <a:pPr algn="l" marL="0" indent="0" lvl="0">
                <a:lnSpc>
                  <a:spcPts val="3900"/>
                </a:lnSpc>
              </a:pPr>
            </a:p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204A8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People Value: Motivated employees through visibility, coaching, and clear RACI.</a:t>
              </a:r>
            </a:p>
            <a:p>
              <a:pPr algn="l" marL="0" indent="0" lvl="0">
                <a:lnSpc>
                  <a:spcPts val="3900"/>
                </a:lnSpc>
              </a:pPr>
            </a:p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204A8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Financial Value: Focus on KPI targets and loss elimination through IPAs and Service Catalogue control.</a:t>
              </a:r>
            </a:p>
            <a:p>
              <a:pPr algn="l" marL="0" indent="0" lvl="0">
                <a:lnSpc>
                  <a:spcPts val="3900"/>
                </a:lnSpc>
              </a:pPr>
            </a:p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204A8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Customer Value: Improved satisfaction through clear expectations and reliable service delivery.</a:t>
              </a:r>
            </a:p>
            <a:p>
              <a:pPr algn="l" marL="0" indent="0" lvl="0">
                <a:lnSpc>
                  <a:spcPts val="3900"/>
                </a:lnSpc>
              </a:pP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086063"/>
              <a:ext cx="168529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b="true" sz="3000">
                  <a:solidFill>
                    <a:srgbClr val="326295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Maximizing benefits for people and customers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1268288">
            <a:off x="14795639" y="5873497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0802" y="3142976"/>
            <a:ext cx="16708650" cy="5614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47"/>
              </a:lnSpc>
            </a:pPr>
            <a:r>
              <a:rPr lang="en-US" sz="3421">
                <a:solidFill>
                  <a:srgbClr val="204A87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The Challenge: New leadership, unclear strategy, scattered SOPs, and "watermelon" KPIs (green on the outside but lacking control).</a:t>
            </a:r>
          </a:p>
          <a:p>
            <a:pPr algn="l" marL="0" indent="0" lvl="0">
              <a:lnSpc>
                <a:spcPts val="4447"/>
              </a:lnSpc>
            </a:pPr>
          </a:p>
          <a:p>
            <a:pPr algn="l" marL="0" indent="0" lvl="0">
              <a:lnSpc>
                <a:spcPts val="4447"/>
              </a:lnSpc>
            </a:pPr>
            <a:r>
              <a:rPr lang="en-US" sz="3421">
                <a:solidFill>
                  <a:srgbClr val="204A87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The KHMS Solution:</a:t>
            </a:r>
          </a:p>
          <a:p>
            <a:pPr algn="l" marL="738660" indent="-369330" lvl="1">
              <a:lnSpc>
                <a:spcPts val="4447"/>
              </a:lnSpc>
              <a:buFont typeface="Arial"/>
              <a:buChar char="•"/>
            </a:pPr>
            <a:r>
              <a:rPr lang="en-US" sz="3421">
                <a:solidFill>
                  <a:srgbClr val="204A87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Developed a detailed Service Catalogue for uniform service.</a:t>
            </a:r>
          </a:p>
          <a:p>
            <a:pPr algn="l" marL="738660" indent="-369330" lvl="1">
              <a:lnSpc>
                <a:spcPts val="4447"/>
              </a:lnSpc>
              <a:buFont typeface="Arial"/>
              <a:buChar char="•"/>
            </a:pPr>
            <a:r>
              <a:rPr lang="en-US" sz="3421">
                <a:solidFill>
                  <a:srgbClr val="204A87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Standardized SOP naming conventions and folder structures.</a:t>
            </a:r>
          </a:p>
          <a:p>
            <a:pPr algn="l" marL="738660" indent="-369330" lvl="1">
              <a:lnSpc>
                <a:spcPts val="4447"/>
              </a:lnSpc>
              <a:buFont typeface="Arial"/>
              <a:buChar char="•"/>
            </a:pPr>
            <a:r>
              <a:rPr lang="en-US" sz="3421">
                <a:solidFill>
                  <a:srgbClr val="204A87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Implemented 90-day plans to drive tangible results.</a:t>
            </a:r>
          </a:p>
          <a:p>
            <a:pPr algn="l">
              <a:lnSpc>
                <a:spcPts val="4447"/>
              </a:lnSpc>
            </a:pPr>
          </a:p>
          <a:p>
            <a:pPr algn="l" marL="0" indent="0" lvl="0">
              <a:lnSpc>
                <a:spcPts val="4447"/>
              </a:lnSpc>
            </a:pPr>
            <a:r>
              <a:rPr lang="en-US" sz="3421">
                <a:solidFill>
                  <a:srgbClr val="204A87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Result: Tower Lead felt equipped, and improvement actions were prioritized objectively.</a:t>
            </a:r>
          </a:p>
          <a:p>
            <a:pPr algn="l" marL="0" indent="0" lvl="0">
              <a:lnSpc>
                <a:spcPts val="4447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392151" y="1209675"/>
            <a:ext cx="16708650" cy="1283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64"/>
              </a:lnSpc>
            </a:pPr>
            <a:r>
              <a:rPr lang="en-US" sz="9664">
                <a:solidFill>
                  <a:srgbClr val="204A87"/>
                </a:solidFill>
                <a:latin typeface="Gilda Display"/>
                <a:ea typeface="Gilda Display"/>
                <a:cs typeface="Gilda Display"/>
                <a:sym typeface="Gilda Display"/>
              </a:rPr>
              <a:t>Case Study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195774" cy="5991224"/>
            <a:chOff x="0" y="0"/>
            <a:chExt cx="21594365" cy="7988299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2057399"/>
              <a:ext cx="21594365" cy="5930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00"/>
                </a:lnSpc>
              </a:pPr>
            </a:p>
            <a:p>
              <a:pPr algn="l">
                <a:lnSpc>
                  <a:spcPts val="3900"/>
                </a:lnSpc>
              </a:pPr>
            </a:p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204A8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P</a:t>
              </a:r>
              <a:r>
                <a:rPr lang="en-US" sz="3000">
                  <a:solidFill>
                    <a:srgbClr val="204A8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urpose: Assess how well a process is executed to drive continuous improvement.</a:t>
              </a:r>
            </a:p>
            <a:p>
              <a:pPr algn="l" marL="0" indent="0" lvl="0">
                <a:lnSpc>
                  <a:spcPts val="3900"/>
                </a:lnSpc>
              </a:pPr>
            </a:p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204A8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Scoring: Higher scores represent higher system maturity and better expected operational results.</a:t>
              </a:r>
            </a:p>
            <a:p>
              <a:pPr algn="l" marL="0" indent="0" lvl="0">
                <a:lnSpc>
                  <a:spcPts val="3900"/>
                </a:lnSpc>
              </a:pPr>
            </a:p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204A8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Cadence: Weekly during deployment, transitioning to monthly post-deployment for sustainability.</a:t>
              </a:r>
            </a:p>
            <a:p>
              <a:pPr algn="l" marL="0" indent="0" lvl="0">
                <a:lnSpc>
                  <a:spcPts val="3900"/>
                </a:lnSpc>
              </a:pPr>
            </a:p>
            <a:p>
              <a:pPr algn="l" marL="0" indent="0" lvl="0">
                <a:lnSpc>
                  <a:spcPts val="3900"/>
                </a:lnSpc>
              </a:pP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71450"/>
              <a:ext cx="11099800" cy="1612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204A87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Health Checks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5976120" cy="7600949"/>
            <a:chOff x="0" y="0"/>
            <a:chExt cx="21301493" cy="10134599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3543299"/>
              <a:ext cx="21301493" cy="6591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204A8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Lessons: Success depends o</a:t>
              </a:r>
              <a:r>
                <a:rPr lang="en-US" sz="3000">
                  <a:solidFill>
                    <a:srgbClr val="204A8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n high stakeholder engagement, strict schedule adherence, and clear communication.</a:t>
              </a:r>
            </a:p>
            <a:p>
              <a:pPr algn="l" marL="0" indent="0" lvl="0">
                <a:lnSpc>
                  <a:spcPts val="3900"/>
                </a:lnSpc>
              </a:pPr>
            </a:p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204A8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Future: The journey continues with rollouts across Corporate and Team levels, plus full digitization via the IO App.</a:t>
              </a:r>
            </a:p>
            <a:p>
              <a:pPr algn="l" marL="0" indent="0" lvl="0">
                <a:lnSpc>
                  <a:spcPts val="3900"/>
                </a:lnSpc>
              </a:pPr>
            </a:p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204A87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Sustainability: Post-deployment "sustainability visits" ensure the new way of operating is maintained.</a:t>
              </a:r>
            </a:p>
            <a:p>
              <a:pPr algn="l" marL="0" indent="0" lvl="0">
                <a:lnSpc>
                  <a:spcPts val="3900"/>
                </a:lnSpc>
              </a:pPr>
            </a:p>
            <a:p>
              <a:pPr algn="l" marL="0" indent="0" lvl="0">
                <a:lnSpc>
                  <a:spcPts val="3900"/>
                </a:lnSpc>
              </a:pP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71450"/>
              <a:ext cx="11099800" cy="30983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204A87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Lessons and Future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GBS Kraft Heinz Management System</dc:description>
  <dc:identifier>DAHAz_B2tP0</dc:identifier>
  <dcterms:modified xsi:type="dcterms:W3CDTF">2011-08-01T06:04:30Z</dcterms:modified>
  <cp:revision>1</cp:revision>
  <dc:title>Presentation - GBS Kraft Heinz Management System</dc:title>
</cp:coreProperties>
</file>